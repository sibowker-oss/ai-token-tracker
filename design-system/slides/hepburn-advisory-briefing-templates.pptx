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yourself; thank the board for the time. The briefing is 20 minutes with three questions at the end — nothing longer. The subtitle states the scope in one sentence; don't elaborate until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 briefly. Six sections, each one a board-level question rather than a topic. Flag that the appendix at the end is the methodology, and that every number in the deck will trace to 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 Say aloud: the question I'm asked most is whether the AI spending is real. My answer is yes — the capex is real, the bills are paid, the GPUs are installed. The follow-on question is the one that matters, and that's what §01 is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setup. Three things are simultaneously true. Read each one slowly, then pause on the third. The pull-quote is your line — use it verbatim if it helps. This slide is the frame for the next 40 minutes; don't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Two-column. Left is how issuers talk. Right is what the numbers show. Both are defensible. The deck does not argue the issuers are lying; it argues the gap between those two views is the unpriced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areas. Thirty seconds, no more. This is a credibility slide — it tells the board what Hepburn does without being a pitch. Say: we engage for weeks, not quarters, and we're measured against one board-level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books of the Ledger. Capital and Power are sourced and high-confidence. Revenue is derived. Usage is modelled. Every number on your P&amp;L connects to one of these four. If they ask which is softest — say Usage, and point to the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metrics. Hepburn's track record, 12 months. Use these numbers sparingly — don't stack them. The 3.2× revenue multiplier is the one to emphasise; the rest contextualise.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number. Say it slowly. Thirty-four dollars of committed capital for every dollar of current booked revenue. Emphasise: this is arithmetic, not opinion — method is on the slide. Pause after the mega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gap. Issuers say forward ARR; Hepburn reports booked. Both are legitimate views. But only one shows up on a tax return. The 78% gap is where the argument lives. Invite the board to name any other industry where that gap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quote. Read it aloud, then give the room 20 seconds of silence. This is the rhetorical pivot. From here on, we're arguing, not describing.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Recommendations. Four moves, sequenced. Walk each one briefly — 30 seconds max per item. Reclassification first; it's the one that pays for itself inside a single quarter. The kill-date language in item one is intentional — don't soften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roadmap. Twenty weeks, four phases. Emphasise the handover — we leave on schedule, and that's in the contract. This slide exists to pre-empt the 'how long'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Editorial slide. Read the opening line aloud. Let the drop-cap paragraph breathe. The board is used to being pitched; this slide is where the tone shifts to analyst note. Sparingly — one of these per deck, 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paths. Only one doesn't require a recession. This is the board's planning call, not mine. If they push, say: the left column requires a 58% CAGR sustained for three years, and no comparable cycle has produced that shape. Let them sit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Capital Ledger table. Dense slide — don't read it, land the point. $745B total, five named issuers account for 90%, and the tiers tell you where the numbers are softest. Invite them to read it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Timeline. Four quarters, four decisions. The Q2 capex guide-down is the one to watch; it's the earliest signal. Don't predict — say: we'll be watching these four dates on your behalf.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This slide exists so you don't need the appendix. Point at the primary sources column; point at the tiers. Then say: if you find a number in this deck that isn't traceable, tell me — and I owe you a revised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Three questions for your next board pack. Leave them with a written version of this slide. Don't take more than 90 seconds on it — the questions are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Contact details. Don't say more than one sentence. The sentence: I'd rather be wrong in public than vague in private — here's how to reach 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5977220" y="381000"/>
            <a:ext cx="139638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Briefing · Q1 2026 Client · Confidential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5273353"/>
            <a:ext cx="1047565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6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capex reconciliation.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7094413"/>
            <a:ext cx="6931908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~$745B of committed capital implies for revenue, usage, and the shape of the next four quarters.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914400" y="8785920"/>
            <a:ext cx="164592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9100245"/>
            <a:ext cx="25564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Prepared by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914400" y="9343132"/>
            <a:ext cx="255649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Simon Bowker · Hepburn Advisory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743950" y="9100245"/>
            <a:ext cx="2476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8743950" y="9343132"/>
            <a:ext cx="24765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[Client name] · Board Advisory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493430" y="9100245"/>
            <a:ext cx="9563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16493430" y="9343132"/>
            <a:ext cx="95637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Apr 2026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228665" y="381000"/>
            <a:ext cx="1144935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Briefing · 20 min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752600"/>
            <a:ext cx="16952976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44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914400" y="3002235"/>
            <a:ext cx="78486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330848"/>
            <a:ext cx="6858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52600" y="3240360"/>
            <a:ext cx="1624533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752600" y="3597548"/>
            <a:ext cx="722071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capex/revenue gap is a board-level arithmetic problem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525000" y="3002235"/>
            <a:ext cx="78486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0" y="3330848"/>
            <a:ext cx="6858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363200" y="3240360"/>
            <a:ext cx="1870397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 books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363200" y="3597548"/>
            <a:ext cx="722071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· Revenue · Usage · Power — and where each is sourced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4011885"/>
            <a:ext cx="78486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340498"/>
            <a:ext cx="6858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752600" y="4250010"/>
            <a:ext cx="2092896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 vs. reality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752600" y="4607198"/>
            <a:ext cx="722071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issuer language reconciles to booked numbers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525000" y="4011885"/>
            <a:ext cx="78486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9" name="Text 16"/>
          <p:cNvSpPr/>
          <p:nvPr/>
        </p:nvSpPr>
        <p:spPr>
          <a:xfrm>
            <a:off x="9525000" y="4340498"/>
            <a:ext cx="6858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363200" y="4250010"/>
            <a:ext cx="2488481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paths forward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0363200" y="4607198"/>
            <a:ext cx="722071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one doesn't require a recession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14400" y="5021535"/>
            <a:ext cx="78486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5350148"/>
            <a:ext cx="6858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752600" y="5259660"/>
            <a:ext cx="1994371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questions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752600" y="5616848"/>
            <a:ext cx="722071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we'd put in the next board pack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525000" y="6031185"/>
            <a:ext cx="78486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27" name="Shape 24"/>
          <p:cNvSpPr/>
          <p:nvPr/>
        </p:nvSpPr>
        <p:spPr>
          <a:xfrm>
            <a:off x="9525000" y="5021535"/>
            <a:ext cx="78486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28" name="Text 25"/>
          <p:cNvSpPr/>
          <p:nvPr/>
        </p:nvSpPr>
        <p:spPr>
          <a:xfrm>
            <a:off x="9525000" y="5350148"/>
            <a:ext cx="6858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0363200" y="5259660"/>
            <a:ext cx="3071991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&amp; methodology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10363200" y="5616848"/>
            <a:ext cx="722071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Sources, tiers, and where to push back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14400" y="9801225"/>
            <a:ext cx="93121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668750" y="381000"/>
            <a:ext cx="70485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 of 05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3057674"/>
            <a:ext cx="172305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52" kern="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§ 01 — The question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14400" y="3495824"/>
            <a:ext cx="9523326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62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capex is real, the revenue has to catch up. Or the capex has to stop.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914400" y="6189315"/>
            <a:ext cx="831829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2A2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outcomes have precedent. Neither is currently priced into enterprise AI budgets.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291545" y="381000"/>
            <a:ext cx="1082055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1 of 2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8888386" cy="1718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things are simultaneously true, and the market is pricing only one of them.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3470821"/>
            <a:ext cx="10778718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One.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capital commitments are real. $745B of cumulative capex through 2026, sourced directly from hyperscaler filings and Tier 1 issuer disclosures.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369891"/>
            <a:ext cx="10778718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Two.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Booked AI revenue is ~$22B trailing twelve months — a figure that includes every line item issuers are willing to attribute to AI, generously interpreted.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268962"/>
            <a:ext cx="10778718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Three.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implied payback period, at current growth rates, exceeds the useful life of the depreciating asset. This is the reconciliation the market has not yet made.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2141175" y="3470821"/>
            <a:ext cx="28575" cy="605417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12436450" y="3494633"/>
            <a:ext cx="4758444" cy="75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capex is a sunk cost. The question is what reconciles it.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2436450" y="4354711"/>
            <a:ext cx="5085188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Hepburn house view, Q1 '26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914400" y="9801225"/>
            <a:ext cx="93121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857315" y="381000"/>
            <a:ext cx="516285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Framing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9629098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issuers describe the moment — and what the numbers actually say.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3101280"/>
            <a:ext cx="80840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ISSUER NARRATIVE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914400" y="3415605"/>
            <a:ext cx="8084058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4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“Compute-bound, revenue-unconstrained.”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914400" y="4000426"/>
            <a:ext cx="808405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ARR guidance is framed in terms of capacity: more chips, more power, more tokens served. The constraint is always supply-side.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4781476"/>
            <a:ext cx="808405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this frame, the capex is investment against a queue of unmet demand. The payback window is assumed, not demonstrated.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525000" y="3101280"/>
            <a:ext cx="80840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RECONCILIATION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9525000" y="3415605"/>
            <a:ext cx="8084058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4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growth is real, but not at the shape required.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9525000" y="4394746"/>
            <a:ext cx="808405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Booked AI revenue is growing ~85% YoY on our numbers. At that rate, sustained for 36 months, the gap closes to ~5×.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525000" y="5175796"/>
            <a:ext cx="808405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is still the widest capex/revenue ratio in any comparable cycle. The cycle is not broken. It is merely expensive.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14400" y="9801225"/>
            <a:ext cx="93121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480110" y="381000"/>
            <a:ext cx="89349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 of work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9629098" cy="1718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focus areas. One operating model. Engaged for weeks, not quarters.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3737521"/>
            <a:ext cx="5334000" cy="57874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7E5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66825" y="4128046"/>
            <a:ext cx="4768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66825" y="4528096"/>
            <a:ext cx="476802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34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commercialisation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266825" y="5009108"/>
            <a:ext cx="476802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Pricing, positioning, and revenue architecture for AI products. Built from the reconciled numbers, not the vendor pitch.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6477000" y="3737521"/>
            <a:ext cx="5334000" cy="57874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7E5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29425" y="4128046"/>
            <a:ext cx="4768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29425" y="4528096"/>
            <a:ext cx="476802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34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leadership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829425" y="5009108"/>
            <a:ext cx="476802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Operator-grade commercial leadership inside your team during the 90–180 day windows that define a cycle.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039600" y="3737521"/>
            <a:ext cx="5334000" cy="578747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7E5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92025" y="4128046"/>
            <a:ext cx="4768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2392025" y="4528096"/>
            <a:ext cx="476802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34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strategy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2392025" y="5009108"/>
            <a:ext cx="476802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entry, channel design, and the scalable motions that survive once the novelty premium has priced out.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914400" y="9801225"/>
            <a:ext cx="93121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040100" y="381000"/>
            <a:ext cx="133350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AI Ledger · live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9629098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Capital, revenue, usage, power. All four have to reconcile.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3101280"/>
            <a:ext cx="3971925" cy="6423720"/>
          </a:xfrm>
          <a:prstGeom prst="roundRect">
            <a:avLst>
              <a:gd name="adj" fmla="val 3837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28725" y="3491805"/>
            <a:ext cx="344357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28725" y="3853755"/>
            <a:ext cx="344357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spc="-210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$745B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228725" y="4768155"/>
            <a:ext cx="3443573" cy="389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committed capex 2024–2026 cumulative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228725" y="8858250"/>
            <a:ext cx="334327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1228725" y="9020175"/>
            <a:ext cx="34435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 · High confidence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76825" y="3101280"/>
            <a:ext cx="3971925" cy="6423720"/>
          </a:xfrm>
          <a:prstGeom prst="roundRect">
            <a:avLst>
              <a:gd name="adj" fmla="val 3837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1150" y="3491805"/>
            <a:ext cx="344357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91150" y="3853755"/>
            <a:ext cx="344357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spc="-210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$22B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5391150" y="4768155"/>
            <a:ext cx="3443573" cy="389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booked customer revenue trailing 12 months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391150" y="8858250"/>
            <a:ext cx="334327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5391150" y="9020175"/>
            <a:ext cx="34435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2 · Med confidence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239250" y="3101280"/>
            <a:ext cx="3971925" cy="6423720"/>
          </a:xfrm>
          <a:prstGeom prst="roundRect">
            <a:avLst>
              <a:gd name="adj" fmla="val 3837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53575" y="3491805"/>
            <a:ext cx="344357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553575" y="3853755"/>
            <a:ext cx="344357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spc="-21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~650T</a:t>
            </a:r>
            <a:endParaRPr lang="en-US" sz="6000" dirty="0"/>
          </a:p>
        </p:txBody>
      </p:sp>
      <p:sp>
        <p:nvSpPr>
          <p:cNvPr id="21" name="Text 18"/>
          <p:cNvSpPr/>
          <p:nvPr/>
        </p:nvSpPr>
        <p:spPr>
          <a:xfrm>
            <a:off x="9553575" y="4768155"/>
            <a:ext cx="3443573" cy="389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served per day global estimate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553575" y="8858250"/>
            <a:ext cx="334327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9553575" y="9020175"/>
            <a:ext cx="34435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3 · Modeled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3401675" y="3101280"/>
            <a:ext cx="3971925" cy="6423720"/>
          </a:xfrm>
          <a:prstGeom prst="roundRect">
            <a:avLst>
              <a:gd name="adj" fmla="val 3837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716000" y="3491805"/>
            <a:ext cx="344357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3716000" y="3853755"/>
            <a:ext cx="344357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spc="-21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92GW</a:t>
            </a:r>
            <a:endParaRPr lang="en-US" sz="6000" dirty="0"/>
          </a:p>
        </p:txBody>
      </p:sp>
      <p:sp>
        <p:nvSpPr>
          <p:cNvPr id="27" name="Text 24"/>
          <p:cNvSpPr/>
          <p:nvPr/>
        </p:nvSpPr>
        <p:spPr>
          <a:xfrm>
            <a:off x="13716000" y="4768155"/>
            <a:ext cx="3443573" cy="389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committed interconnection 2026–2028 window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13716000" y="8858250"/>
            <a:ext cx="334327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13716000" y="9020175"/>
            <a:ext cx="34435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 · High confidence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102980" y="381000"/>
            <a:ext cx="127062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Engagement outcomes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9629098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we've moved, measured at the board level.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5179219"/>
            <a:ext cx="394335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503069"/>
            <a:ext cx="406165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88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3.2×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914400" y="6562204"/>
            <a:ext cx="406165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137" kern="0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MULTIPLIER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914400" y="6818412"/>
            <a:ext cx="4061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across five engagements, 12-month window post-engagement.</a:t>
            </a:r>
            <a:endParaRPr lang="en-US" sz="1125" dirty="0"/>
          </a:p>
        </p:txBody>
      </p:sp>
      <p:sp>
        <p:nvSpPr>
          <p:cNvPr id="10" name="Shape 7"/>
          <p:cNvSpPr/>
          <p:nvPr/>
        </p:nvSpPr>
        <p:spPr>
          <a:xfrm>
            <a:off x="5086350" y="5179219"/>
            <a:ext cx="394335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8"/>
          <p:cNvSpPr/>
          <p:nvPr/>
        </p:nvSpPr>
        <p:spPr>
          <a:xfrm>
            <a:off x="5086350" y="5503069"/>
            <a:ext cx="406165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88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5086350" y="6562204"/>
            <a:ext cx="406165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137" kern="0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TO MARKET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5086350" y="6818412"/>
            <a:ext cx="4061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against the original internal GTM plan at engagement start.</a:t>
            </a:r>
            <a:endParaRPr lang="en-US" sz="1125" dirty="0"/>
          </a:p>
        </p:txBody>
      </p:sp>
      <p:sp>
        <p:nvSpPr>
          <p:cNvPr id="14" name="Shape 11"/>
          <p:cNvSpPr/>
          <p:nvPr/>
        </p:nvSpPr>
        <p:spPr>
          <a:xfrm>
            <a:off x="9258300" y="5179219"/>
            <a:ext cx="394335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2"/>
          <p:cNvSpPr/>
          <p:nvPr/>
        </p:nvSpPr>
        <p:spPr>
          <a:xfrm>
            <a:off x="9258300" y="5503069"/>
            <a:ext cx="406165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88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endParaRPr lang="en-US" sz="7200" dirty="0"/>
          </a:p>
        </p:txBody>
      </p:sp>
      <p:sp>
        <p:nvSpPr>
          <p:cNvPr id="16" name="Text 13"/>
          <p:cNvSpPr/>
          <p:nvPr/>
        </p:nvSpPr>
        <p:spPr>
          <a:xfrm>
            <a:off x="9258300" y="6562204"/>
            <a:ext cx="406165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137" kern="0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RETENTION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9258300" y="6818412"/>
            <a:ext cx="4061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retention across engagements concluded since Q1 2025.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13430250" y="5179219"/>
            <a:ext cx="394335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6"/>
          <p:cNvSpPr/>
          <p:nvPr/>
        </p:nvSpPr>
        <p:spPr>
          <a:xfrm>
            <a:off x="13430250" y="5503069"/>
            <a:ext cx="406165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spc="-288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$12M</a:t>
            </a:r>
            <a:endParaRPr lang="en-US" sz="7200" dirty="0"/>
          </a:p>
        </p:txBody>
      </p:sp>
      <p:sp>
        <p:nvSpPr>
          <p:cNvPr id="20" name="Text 17"/>
          <p:cNvSpPr/>
          <p:nvPr/>
        </p:nvSpPr>
        <p:spPr>
          <a:xfrm>
            <a:off x="13430250" y="6562204"/>
            <a:ext cx="4061650" cy="199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137" kern="0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GENERATED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13430250" y="6818412"/>
            <a:ext cx="4061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commercial pipeline attributable to engagement work.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914400" y="9801225"/>
            <a:ext cx="308210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T2 DERIVED · MED CONFIDENCE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954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5851460" y="381000"/>
            <a:ext cx="152214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Capital Ledger · Tier 1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7364423" y="3137595"/>
            <a:ext cx="355908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every dollar of AI revenue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527144" y="3789090"/>
            <a:ext cx="3233639" cy="161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500" b="1" spc="-5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pPr algn="ctr" indent="0" marL="0">
              <a:lnSpc>
                <a:spcPct val="92000"/>
              </a:lnSpc>
              <a:buNone/>
            </a:pPr>
            <a:r>
              <a:rPr lang="en-US" sz="13500" b="1" spc="-54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3500" dirty="0"/>
          </a:p>
        </p:txBody>
      </p:sp>
      <p:sp>
        <p:nvSpPr>
          <p:cNvPr id="7" name="Text 4"/>
          <p:cNvSpPr/>
          <p:nvPr/>
        </p:nvSpPr>
        <p:spPr>
          <a:xfrm>
            <a:off x="5764658" y="5747370"/>
            <a:ext cx="6758610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capital has been committed to the stack that serves it. The implied payback needs one of three things to move.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476772" y="7016055"/>
            <a:ext cx="73344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Method: committed capex 2024–2026 / booked revenue T12M · Tier 2 derived · Med confidence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8553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5411450" y="381000"/>
            <a:ext cx="196215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Claims Ledger · Reconciliation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3985320"/>
            <a:ext cx="8084058" cy="1950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900" i="1" spc="-39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We're on a $50B ARR trajectory by end of year.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914400" y="6202710"/>
            <a:ext cx="8084058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OpenAI · S. Altman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CNBC · 14 Apr 2026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9525000" y="4191000"/>
            <a:ext cx="7848600" cy="2286000"/>
          </a:xfrm>
          <a:prstGeom prst="roundRect">
            <a:avLst>
              <a:gd name="adj" fmla="val 3333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525000" y="4191000"/>
            <a:ext cx="38100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9867900" y="4495800"/>
            <a:ext cx="741692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RECONCILIATION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867900" y="4800600"/>
            <a:ext cx="74169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~$11.2B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9867900" y="5638800"/>
            <a:ext cx="741692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booked revenue, Q1 '26. Gap to claim: 78%. Implies a 4.5× revenue acceleration in 8 months.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954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668750" y="381000"/>
            <a:ext cx="70485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House view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8686800" y="3185220"/>
            <a:ext cx="9144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3B82F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</a:t>
            </a:r>
            <a:endParaRPr lang="en-US" sz="15000" dirty="0"/>
          </a:p>
        </p:txBody>
      </p:sp>
      <p:sp>
        <p:nvSpPr>
          <p:cNvPr id="6" name="Text 3"/>
          <p:cNvSpPr/>
          <p:nvPr/>
        </p:nvSpPr>
        <p:spPr>
          <a:xfrm>
            <a:off x="5013598" y="4232970"/>
            <a:ext cx="8260805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200" i="1" spc="-21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capex is the question. The revenue is the answer. The useful life of the asset is the deadline.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212816" y="6690420"/>
            <a:ext cx="386229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spc="147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SIMON BOWKER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69063" y="6919913"/>
            <a:ext cx="386229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FOUNDER, HEPBURN ADVISORY · APRIL 2026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8553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354425" y="381000"/>
            <a:ext cx="1019175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Recommendations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9629098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moves, sequenced across the next two board cycles.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3390602"/>
            <a:ext cx="104775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3628727"/>
            <a:ext cx="381000" cy="3810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876300" y="3628727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76400" y="3666827"/>
            <a:ext cx="100069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29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Reclassify AI line items by what they're actually paying for.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676400" y="4043065"/>
            <a:ext cx="10006965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the P&amp;L into </a:t>
            </a:r>
            <a:pPr algn="l" indent="0" marL="0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optionality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first gets the budget; the second gets scrutiny; the third gets a kill-date.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14400" y="4959251"/>
            <a:ext cx="104775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5197376"/>
            <a:ext cx="381000" cy="3810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876300" y="5197376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676400" y="5235476"/>
            <a:ext cx="100069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29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the reconciliation cadence before the market forces it.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676400" y="5611713"/>
            <a:ext cx="10006965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capex-to-revenue ratio, reported internally, tiered by source. The goal is to see the trend before it is a press cycle.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6527899"/>
            <a:ext cx="104775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7" name="Shape 14"/>
          <p:cNvSpPr/>
          <p:nvPr/>
        </p:nvSpPr>
        <p:spPr>
          <a:xfrm>
            <a:off x="914400" y="6766024"/>
            <a:ext cx="381000" cy="3810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876300" y="6766024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76400" y="6804124"/>
            <a:ext cx="100069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29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vendor concentration against credible downside.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1676400" y="7180362"/>
            <a:ext cx="10006965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any single hyperscaler cuts capex 20% in 2027, what breaks? The answer should be on one page, not in an audit document.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14400" y="9226153"/>
            <a:ext cx="104775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22" name="Shape 19"/>
          <p:cNvSpPr/>
          <p:nvPr/>
        </p:nvSpPr>
        <p:spPr>
          <a:xfrm>
            <a:off x="914400" y="8096548"/>
            <a:ext cx="104775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23" name="Shape 20"/>
          <p:cNvSpPr/>
          <p:nvPr/>
        </p:nvSpPr>
        <p:spPr>
          <a:xfrm>
            <a:off x="914400" y="8334673"/>
            <a:ext cx="381000" cy="3810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/>
          <p:nvPr/>
        </p:nvSpPr>
        <p:spPr>
          <a:xfrm>
            <a:off x="876300" y="8334673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676400" y="8372773"/>
            <a:ext cx="100069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29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Rebuild the category-authority plan around the reconciled view.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1676400" y="8749010"/>
            <a:ext cx="1000696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pitching into the vendor narrative. The differentiation is the reconciliation — show your work, publish the numbers.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14400" y="9801225"/>
            <a:ext cx="93121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417230" y="381000"/>
            <a:ext cx="95637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Engagement arc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9629098" cy="1718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phases. Twelve to twenty weeks. Measured against one board-level outcome.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5547792"/>
            <a:ext cx="419100" cy="4191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876300" y="554779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914400" y="6271692"/>
            <a:ext cx="4061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7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1–2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914400" y="6528867"/>
            <a:ext cx="40616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14400" y="6986067"/>
            <a:ext cx="4061650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interviews, reconciliation of current numbers to source, identification of the arithmetic gaps.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5086350" y="5547792"/>
            <a:ext cx="419100" cy="4191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Text 9"/>
          <p:cNvSpPr/>
          <p:nvPr/>
        </p:nvSpPr>
        <p:spPr>
          <a:xfrm>
            <a:off x="5048250" y="554779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5086350" y="6271692"/>
            <a:ext cx="4061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7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3–6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086350" y="6528867"/>
            <a:ext cx="40616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086350" y="6986067"/>
            <a:ext cx="4061650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Positioning, GTM framework, pricing architecture, and the commercial playbook — delivered as briefing, not slideware.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9258300" y="5547792"/>
            <a:ext cx="419100" cy="4191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7" name="Text 14"/>
          <p:cNvSpPr/>
          <p:nvPr/>
        </p:nvSpPr>
        <p:spPr>
          <a:xfrm>
            <a:off x="9220200" y="554779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9258300" y="6271692"/>
            <a:ext cx="4061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7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6–14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9258300" y="6528867"/>
            <a:ext cx="40616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258300" y="6986067"/>
            <a:ext cx="4061650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leadership inside your team. Launch support, team enablement, monthly board-level reporting.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13430250" y="5547792"/>
            <a:ext cx="419100" cy="4191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2" name="Text 19"/>
          <p:cNvSpPr/>
          <p:nvPr/>
        </p:nvSpPr>
        <p:spPr>
          <a:xfrm>
            <a:off x="13392150" y="554779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13430250" y="6271692"/>
            <a:ext cx="4061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spc="7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14–20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13430250" y="6528867"/>
            <a:ext cx="40616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Handover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3430250" y="6986067"/>
            <a:ext cx="4061650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instrumentation, expansion plan, and a clean handoff to the internal team. We leave on schedule.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914400" y="9801225"/>
            <a:ext cx="93121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5600015" y="381000"/>
            <a:ext cx="1773585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Hepburn view · Analyst note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5875139" y="1584499"/>
            <a:ext cx="6733854" cy="2939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100" spc="-102" kern="0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SaaS implementation tax, re-skinned as AI transformation.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5875139" y="4924202"/>
            <a:ext cx="686767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5875139" y="4886102"/>
            <a:ext cx="6436695" cy="1527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 vendor sells outcomes. The buyer still pays for integration, change management, and the quarterly reconciliation of what the model was supposed to automate against what it actually did.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875139" y="6037585"/>
            <a:ext cx="6640038" cy="76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i="1" dirty="0">
                <a:solidFill>
                  <a:srgbClr val="33415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That gap is the tax.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875139" y="6976690"/>
            <a:ext cx="6733854" cy="1573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prior platform wave — client-server, web, mobile, cloud — ran the same arithmetic. AI is not different in kind. It is different in magnitude. And the magnitude is, so far, in the cost column.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14400" y="9801225"/>
            <a:ext cx="93121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040100" y="381000"/>
            <a:ext cx="133350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Framework · Pick one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9629098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reconciliation has to come from somewhere.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3101280"/>
            <a:ext cx="8115300" cy="6423720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9515475"/>
            <a:ext cx="81153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3101280"/>
            <a:ext cx="8115300" cy="381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101280"/>
            <a:ext cx="9525" cy="6423720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0" name="Shape 7"/>
          <p:cNvSpPr/>
          <p:nvPr/>
        </p:nvSpPr>
        <p:spPr>
          <a:xfrm>
            <a:off x="9020175" y="3101280"/>
            <a:ext cx="9525" cy="6423720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1" name="Text 8"/>
          <p:cNvSpPr/>
          <p:nvPr/>
        </p:nvSpPr>
        <p:spPr>
          <a:xfrm>
            <a:off x="1304925" y="3520380"/>
            <a:ext cx="75542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OF LEAST PAIN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304925" y="3806130"/>
            <a:ext cx="7554278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49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expands ~4× over 36 months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171575" y="4581451"/>
            <a:ext cx="7543800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seat penetration triples from 18% to ~55%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Per-seat pricing holds; no discount pressure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Capex plateau; no new multi-year commitments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Implied CAGR: 58% · precedented in zero comparable cycles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258300" y="3101280"/>
            <a:ext cx="8115300" cy="6423720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9258300" y="9515475"/>
            <a:ext cx="81153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6" name="Shape 13"/>
          <p:cNvSpPr/>
          <p:nvPr/>
        </p:nvSpPr>
        <p:spPr>
          <a:xfrm>
            <a:off x="9258300" y="3101280"/>
            <a:ext cx="8115300" cy="381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Shape 14"/>
          <p:cNvSpPr/>
          <p:nvPr/>
        </p:nvSpPr>
        <p:spPr>
          <a:xfrm>
            <a:off x="9258300" y="3101280"/>
            <a:ext cx="9525" cy="6423720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8" name="Shape 15"/>
          <p:cNvSpPr/>
          <p:nvPr/>
        </p:nvSpPr>
        <p:spPr>
          <a:xfrm>
            <a:off x="17364075" y="3101280"/>
            <a:ext cx="9525" cy="6423720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9" name="Text 16"/>
          <p:cNvSpPr/>
          <p:nvPr/>
        </p:nvSpPr>
        <p:spPr>
          <a:xfrm>
            <a:off x="9648825" y="3520380"/>
            <a:ext cx="75542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7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PATHS OF MORE PAIN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648825" y="3806130"/>
            <a:ext cx="7554278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49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Capex contracts, or margins compress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9515475" y="4581451"/>
            <a:ext cx="7543800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Hyperscaler capex cuts → chip oversupply → margin shock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revenue grows but at commodity API pricing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Either path requires a recession the market hasn't priced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planning horizon: 12 months, not 36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14400" y="9801225"/>
            <a:ext cx="93121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5851460" y="381000"/>
            <a:ext cx="152214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Capital Ledger · Q1 '26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8888386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Committed capex, 2024–2026, sourced and triangulated.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914400" y="3165128"/>
            <a:ext cx="3620988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66800" y="2922240"/>
            <a:ext cx="3424818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35388" y="3165128"/>
            <a:ext cx="2962647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4687788" y="2922240"/>
            <a:ext cx="2746726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498035" y="3165128"/>
            <a:ext cx="493774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7650435" y="2922240"/>
            <a:ext cx="478107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2435780" y="3165128"/>
            <a:ext cx="246883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2511980" y="2922240"/>
            <a:ext cx="2240235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2024–26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4904616" y="3165128"/>
            <a:ext cx="2468984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14980816" y="2922240"/>
            <a:ext cx="224038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14400" y="4068440"/>
            <a:ext cx="3620988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1066800" y="3346103"/>
            <a:ext cx="3424818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4535388" y="4068440"/>
            <a:ext cx="2962647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6"/>
          <p:cNvSpPr/>
          <p:nvPr/>
        </p:nvSpPr>
        <p:spPr>
          <a:xfrm>
            <a:off x="4687788" y="3576265"/>
            <a:ext cx="580132" cy="161925"/>
          </a:xfrm>
          <a:prstGeom prst="roundRect">
            <a:avLst>
              <a:gd name="adj" fmla="val 23529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773513" y="3604840"/>
            <a:ext cx="48488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41" kern="0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7498035" y="4068440"/>
            <a:ext cx="493774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7650435" y="3346103"/>
            <a:ext cx="4781077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10-K, Q3 FY26 guidance</a:t>
            </a:r>
            <a:endParaRPr lang="en-US" sz="1425" dirty="0"/>
          </a:p>
        </p:txBody>
      </p:sp>
      <p:sp>
        <p:nvSpPr>
          <p:cNvPr id="23" name="Shape 20"/>
          <p:cNvSpPr/>
          <p:nvPr/>
        </p:nvSpPr>
        <p:spPr>
          <a:xfrm>
            <a:off x="12435780" y="4068440"/>
            <a:ext cx="246883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12511980" y="3346103"/>
            <a:ext cx="2240235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$184B</a:t>
            </a:r>
            <a:endParaRPr lang="en-US" sz="1425" dirty="0"/>
          </a:p>
        </p:txBody>
      </p:sp>
      <p:sp>
        <p:nvSpPr>
          <p:cNvPr id="25" name="Shape 22"/>
          <p:cNvSpPr/>
          <p:nvPr/>
        </p:nvSpPr>
        <p:spPr>
          <a:xfrm>
            <a:off x="14904616" y="4068440"/>
            <a:ext cx="2468984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14980816" y="3346103"/>
            <a:ext cx="2240384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24.7%</a:t>
            </a:r>
            <a:endParaRPr lang="en-US" sz="1425" dirty="0"/>
          </a:p>
        </p:txBody>
      </p:sp>
      <p:sp>
        <p:nvSpPr>
          <p:cNvPr id="27" name="Shape 24"/>
          <p:cNvSpPr/>
          <p:nvPr/>
        </p:nvSpPr>
        <p:spPr>
          <a:xfrm>
            <a:off x="914400" y="4971752"/>
            <a:ext cx="3620988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6800" y="4249415"/>
            <a:ext cx="3424818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Alphabet</a:t>
            </a:r>
            <a:endParaRPr lang="en-US" sz="1425" dirty="0"/>
          </a:p>
        </p:txBody>
      </p:sp>
      <p:sp>
        <p:nvSpPr>
          <p:cNvPr id="29" name="Shape 26"/>
          <p:cNvSpPr/>
          <p:nvPr/>
        </p:nvSpPr>
        <p:spPr>
          <a:xfrm>
            <a:off x="4535388" y="4971752"/>
            <a:ext cx="2962647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7"/>
          <p:cNvSpPr/>
          <p:nvPr/>
        </p:nvSpPr>
        <p:spPr>
          <a:xfrm>
            <a:off x="4687788" y="4479578"/>
            <a:ext cx="580132" cy="161925"/>
          </a:xfrm>
          <a:prstGeom prst="roundRect">
            <a:avLst>
              <a:gd name="adj" fmla="val 23529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773513" y="4508153"/>
            <a:ext cx="48488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41" kern="0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</a:t>
            </a:r>
            <a:endParaRPr lang="en-US" sz="825" dirty="0"/>
          </a:p>
        </p:txBody>
      </p:sp>
      <p:sp>
        <p:nvSpPr>
          <p:cNvPr id="32" name="Shape 29"/>
          <p:cNvSpPr/>
          <p:nvPr/>
        </p:nvSpPr>
        <p:spPr>
          <a:xfrm>
            <a:off x="7498035" y="4971752"/>
            <a:ext cx="493774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0"/>
          <p:cNvSpPr/>
          <p:nvPr/>
        </p:nvSpPr>
        <p:spPr>
          <a:xfrm>
            <a:off x="7650435" y="4249415"/>
            <a:ext cx="4781077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10-K, earnings call Q1</a:t>
            </a:r>
            <a:endParaRPr lang="en-US" sz="1425" dirty="0"/>
          </a:p>
        </p:txBody>
      </p:sp>
      <p:sp>
        <p:nvSpPr>
          <p:cNvPr id="34" name="Shape 31"/>
          <p:cNvSpPr/>
          <p:nvPr/>
        </p:nvSpPr>
        <p:spPr>
          <a:xfrm>
            <a:off x="12435780" y="4971752"/>
            <a:ext cx="246883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2"/>
          <p:cNvSpPr/>
          <p:nvPr/>
        </p:nvSpPr>
        <p:spPr>
          <a:xfrm>
            <a:off x="12511980" y="4249415"/>
            <a:ext cx="2240235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$162B</a:t>
            </a:r>
            <a:endParaRPr lang="en-US" sz="1425" dirty="0"/>
          </a:p>
        </p:txBody>
      </p:sp>
      <p:sp>
        <p:nvSpPr>
          <p:cNvPr id="36" name="Shape 33"/>
          <p:cNvSpPr/>
          <p:nvPr/>
        </p:nvSpPr>
        <p:spPr>
          <a:xfrm>
            <a:off x="14904616" y="4971752"/>
            <a:ext cx="2468984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4"/>
          <p:cNvSpPr/>
          <p:nvPr/>
        </p:nvSpPr>
        <p:spPr>
          <a:xfrm>
            <a:off x="14980816" y="4249415"/>
            <a:ext cx="2240384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21.7%</a:t>
            </a:r>
            <a:endParaRPr lang="en-US" sz="1425" dirty="0"/>
          </a:p>
        </p:txBody>
      </p:sp>
      <p:sp>
        <p:nvSpPr>
          <p:cNvPr id="38" name="Shape 35"/>
          <p:cNvSpPr/>
          <p:nvPr/>
        </p:nvSpPr>
        <p:spPr>
          <a:xfrm>
            <a:off x="914400" y="5875065"/>
            <a:ext cx="3620988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6"/>
          <p:cNvSpPr/>
          <p:nvPr/>
        </p:nvSpPr>
        <p:spPr>
          <a:xfrm>
            <a:off x="1066800" y="5152727"/>
            <a:ext cx="3424818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(AWS)</a:t>
            </a:r>
            <a:endParaRPr lang="en-US" sz="1425" dirty="0"/>
          </a:p>
        </p:txBody>
      </p:sp>
      <p:sp>
        <p:nvSpPr>
          <p:cNvPr id="40" name="Shape 37"/>
          <p:cNvSpPr/>
          <p:nvPr/>
        </p:nvSpPr>
        <p:spPr>
          <a:xfrm>
            <a:off x="4535388" y="5875065"/>
            <a:ext cx="2962647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8"/>
          <p:cNvSpPr/>
          <p:nvPr/>
        </p:nvSpPr>
        <p:spPr>
          <a:xfrm>
            <a:off x="4687788" y="5382890"/>
            <a:ext cx="580132" cy="161925"/>
          </a:xfrm>
          <a:prstGeom prst="roundRect">
            <a:avLst>
              <a:gd name="adj" fmla="val 23529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4773513" y="5411465"/>
            <a:ext cx="48488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41" kern="0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</a:t>
            </a:r>
            <a:endParaRPr lang="en-US" sz="825" dirty="0"/>
          </a:p>
        </p:txBody>
      </p:sp>
      <p:sp>
        <p:nvSpPr>
          <p:cNvPr id="43" name="Shape 40"/>
          <p:cNvSpPr/>
          <p:nvPr/>
        </p:nvSpPr>
        <p:spPr>
          <a:xfrm>
            <a:off x="7498035" y="5875065"/>
            <a:ext cx="493774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7650435" y="5152727"/>
            <a:ext cx="4781077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10-K capex disclosure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435780" y="5875065"/>
            <a:ext cx="246883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3"/>
          <p:cNvSpPr/>
          <p:nvPr/>
        </p:nvSpPr>
        <p:spPr>
          <a:xfrm>
            <a:off x="12511980" y="5152727"/>
            <a:ext cx="2240235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$148B</a:t>
            </a:r>
            <a:endParaRPr lang="en-US" sz="1425" dirty="0"/>
          </a:p>
        </p:txBody>
      </p:sp>
      <p:sp>
        <p:nvSpPr>
          <p:cNvPr id="47" name="Shape 44"/>
          <p:cNvSpPr/>
          <p:nvPr/>
        </p:nvSpPr>
        <p:spPr>
          <a:xfrm>
            <a:off x="14904616" y="5875065"/>
            <a:ext cx="2468984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Text 45"/>
          <p:cNvSpPr/>
          <p:nvPr/>
        </p:nvSpPr>
        <p:spPr>
          <a:xfrm>
            <a:off x="14980816" y="5152727"/>
            <a:ext cx="2240384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19.9%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914400" y="6778377"/>
            <a:ext cx="3620988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Text 47"/>
          <p:cNvSpPr/>
          <p:nvPr/>
        </p:nvSpPr>
        <p:spPr>
          <a:xfrm>
            <a:off x="1066800" y="6056040"/>
            <a:ext cx="3424818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4535388" y="6778377"/>
            <a:ext cx="2962647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2" name="Shape 49"/>
          <p:cNvSpPr/>
          <p:nvPr/>
        </p:nvSpPr>
        <p:spPr>
          <a:xfrm>
            <a:off x="4687788" y="6286202"/>
            <a:ext cx="580132" cy="161925"/>
          </a:xfrm>
          <a:prstGeom prst="roundRect">
            <a:avLst>
              <a:gd name="adj" fmla="val 23529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4773513" y="6314777"/>
            <a:ext cx="48488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41" kern="0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</a:t>
            </a:r>
            <a:endParaRPr lang="en-US" sz="825" dirty="0"/>
          </a:p>
        </p:txBody>
      </p:sp>
      <p:sp>
        <p:nvSpPr>
          <p:cNvPr id="54" name="Shape 51"/>
          <p:cNvSpPr/>
          <p:nvPr/>
        </p:nvSpPr>
        <p:spPr>
          <a:xfrm>
            <a:off x="7498035" y="6778377"/>
            <a:ext cx="493774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Text 52"/>
          <p:cNvSpPr/>
          <p:nvPr/>
        </p:nvSpPr>
        <p:spPr>
          <a:xfrm>
            <a:off x="7650435" y="6056040"/>
            <a:ext cx="4781077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10-K, Q4 '25 guidance</a:t>
            </a:r>
            <a:endParaRPr lang="en-US" sz="1425" dirty="0"/>
          </a:p>
        </p:txBody>
      </p:sp>
      <p:sp>
        <p:nvSpPr>
          <p:cNvPr id="56" name="Shape 53"/>
          <p:cNvSpPr/>
          <p:nvPr/>
        </p:nvSpPr>
        <p:spPr>
          <a:xfrm>
            <a:off x="12435780" y="6778377"/>
            <a:ext cx="246883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7" name="Text 54"/>
          <p:cNvSpPr/>
          <p:nvPr/>
        </p:nvSpPr>
        <p:spPr>
          <a:xfrm>
            <a:off x="12511980" y="6056040"/>
            <a:ext cx="2240235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$114B</a:t>
            </a:r>
            <a:endParaRPr lang="en-US" sz="1425" dirty="0"/>
          </a:p>
        </p:txBody>
      </p:sp>
      <p:sp>
        <p:nvSpPr>
          <p:cNvPr id="58" name="Shape 55"/>
          <p:cNvSpPr/>
          <p:nvPr/>
        </p:nvSpPr>
        <p:spPr>
          <a:xfrm>
            <a:off x="14904616" y="6778377"/>
            <a:ext cx="2468984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9" name="Text 56"/>
          <p:cNvSpPr/>
          <p:nvPr/>
        </p:nvSpPr>
        <p:spPr>
          <a:xfrm>
            <a:off x="14980816" y="6056040"/>
            <a:ext cx="2240384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15.3%</a:t>
            </a:r>
            <a:endParaRPr lang="en-US" sz="1425" dirty="0"/>
          </a:p>
        </p:txBody>
      </p:sp>
      <p:sp>
        <p:nvSpPr>
          <p:cNvPr id="60" name="Shape 57"/>
          <p:cNvSpPr/>
          <p:nvPr/>
        </p:nvSpPr>
        <p:spPr>
          <a:xfrm>
            <a:off x="914400" y="7681689"/>
            <a:ext cx="3620988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Text 58"/>
          <p:cNvSpPr/>
          <p:nvPr/>
        </p:nvSpPr>
        <p:spPr>
          <a:xfrm>
            <a:off x="1066800" y="6959352"/>
            <a:ext cx="3424818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4535388" y="7681689"/>
            <a:ext cx="2962647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3" name="Shape 60"/>
          <p:cNvSpPr/>
          <p:nvPr/>
        </p:nvSpPr>
        <p:spPr>
          <a:xfrm>
            <a:off x="4687788" y="7189515"/>
            <a:ext cx="580132" cy="161925"/>
          </a:xfrm>
          <a:prstGeom prst="roundRect">
            <a:avLst>
              <a:gd name="adj" fmla="val 23529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4773513" y="7218090"/>
            <a:ext cx="48488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41" kern="0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2</a:t>
            </a:r>
            <a:endParaRPr lang="en-US" sz="825" dirty="0"/>
          </a:p>
        </p:txBody>
      </p:sp>
      <p:sp>
        <p:nvSpPr>
          <p:cNvPr id="65" name="Shape 62"/>
          <p:cNvSpPr/>
          <p:nvPr/>
        </p:nvSpPr>
        <p:spPr>
          <a:xfrm>
            <a:off x="7498035" y="7681689"/>
            <a:ext cx="493774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6" name="Text 63"/>
          <p:cNvSpPr/>
          <p:nvPr/>
        </p:nvSpPr>
        <p:spPr>
          <a:xfrm>
            <a:off x="7650435" y="6959352"/>
            <a:ext cx="4781077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Earnings call, triangulated</a:t>
            </a:r>
            <a:endParaRPr lang="en-US" sz="1425" dirty="0"/>
          </a:p>
        </p:txBody>
      </p:sp>
      <p:sp>
        <p:nvSpPr>
          <p:cNvPr id="67" name="Shape 64"/>
          <p:cNvSpPr/>
          <p:nvPr/>
        </p:nvSpPr>
        <p:spPr>
          <a:xfrm>
            <a:off x="12435780" y="7681689"/>
            <a:ext cx="246883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8" name="Text 65"/>
          <p:cNvSpPr/>
          <p:nvPr/>
        </p:nvSpPr>
        <p:spPr>
          <a:xfrm>
            <a:off x="12511980" y="6959352"/>
            <a:ext cx="2240235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$62B</a:t>
            </a:r>
            <a:endParaRPr lang="en-US" sz="1425" dirty="0"/>
          </a:p>
        </p:txBody>
      </p:sp>
      <p:sp>
        <p:nvSpPr>
          <p:cNvPr id="69" name="Shape 66"/>
          <p:cNvSpPr/>
          <p:nvPr/>
        </p:nvSpPr>
        <p:spPr>
          <a:xfrm>
            <a:off x="14904616" y="7681689"/>
            <a:ext cx="2468984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0" name="Text 67"/>
          <p:cNvSpPr/>
          <p:nvPr/>
        </p:nvSpPr>
        <p:spPr>
          <a:xfrm>
            <a:off x="14980816" y="6959352"/>
            <a:ext cx="2240384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1425" dirty="0"/>
          </a:p>
        </p:txBody>
      </p:sp>
      <p:sp>
        <p:nvSpPr>
          <p:cNvPr id="71" name="Shape 68"/>
          <p:cNvSpPr/>
          <p:nvPr/>
        </p:nvSpPr>
        <p:spPr>
          <a:xfrm>
            <a:off x="914400" y="8585002"/>
            <a:ext cx="3620988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2" name="Text 69"/>
          <p:cNvSpPr/>
          <p:nvPr/>
        </p:nvSpPr>
        <p:spPr>
          <a:xfrm>
            <a:off x="1066800" y="7862664"/>
            <a:ext cx="3424818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(xAI, CoreWeave, sovereign)</a:t>
            </a:r>
            <a:endParaRPr lang="en-US" sz="1425" dirty="0"/>
          </a:p>
        </p:txBody>
      </p:sp>
      <p:sp>
        <p:nvSpPr>
          <p:cNvPr id="73" name="Shape 70"/>
          <p:cNvSpPr/>
          <p:nvPr/>
        </p:nvSpPr>
        <p:spPr>
          <a:xfrm>
            <a:off x="4535388" y="8585002"/>
            <a:ext cx="2962647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4" name="Shape 71"/>
          <p:cNvSpPr/>
          <p:nvPr/>
        </p:nvSpPr>
        <p:spPr>
          <a:xfrm>
            <a:off x="4687788" y="8092827"/>
            <a:ext cx="580132" cy="161925"/>
          </a:xfrm>
          <a:prstGeom prst="roundRect">
            <a:avLst>
              <a:gd name="adj" fmla="val 23529"/>
            </a:avLst>
          </a:prstGeom>
          <a:solidFill>
            <a:srgbClr val="8B5CF6">
              <a:alpha val="15000"/>
            </a:srgbClr>
          </a:solidFill>
          <a:ln/>
        </p:spPr>
      </p:sp>
      <p:sp>
        <p:nvSpPr>
          <p:cNvPr id="75" name="Text 72"/>
          <p:cNvSpPr/>
          <p:nvPr/>
        </p:nvSpPr>
        <p:spPr>
          <a:xfrm>
            <a:off x="4773513" y="8121402"/>
            <a:ext cx="48488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41" kern="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3</a:t>
            </a:r>
            <a:endParaRPr lang="en-US" sz="825" dirty="0"/>
          </a:p>
        </p:txBody>
      </p:sp>
      <p:sp>
        <p:nvSpPr>
          <p:cNvPr id="76" name="Shape 73"/>
          <p:cNvSpPr/>
          <p:nvPr/>
        </p:nvSpPr>
        <p:spPr>
          <a:xfrm>
            <a:off x="7498035" y="8585002"/>
            <a:ext cx="493774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7" name="Text 74"/>
          <p:cNvSpPr/>
          <p:nvPr/>
        </p:nvSpPr>
        <p:spPr>
          <a:xfrm>
            <a:off x="7650435" y="7862664"/>
            <a:ext cx="4781077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Modeled from disclosures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12435780" y="8585002"/>
            <a:ext cx="246883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9" name="Text 76"/>
          <p:cNvSpPr/>
          <p:nvPr/>
        </p:nvSpPr>
        <p:spPr>
          <a:xfrm>
            <a:off x="12511980" y="7862664"/>
            <a:ext cx="2240235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$75B</a:t>
            </a:r>
            <a:endParaRPr lang="en-US" sz="1425" dirty="0"/>
          </a:p>
        </p:txBody>
      </p:sp>
      <p:sp>
        <p:nvSpPr>
          <p:cNvPr id="80" name="Shape 77"/>
          <p:cNvSpPr/>
          <p:nvPr/>
        </p:nvSpPr>
        <p:spPr>
          <a:xfrm>
            <a:off x="14904616" y="8585002"/>
            <a:ext cx="2468984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1" name="Text 78"/>
          <p:cNvSpPr/>
          <p:nvPr/>
        </p:nvSpPr>
        <p:spPr>
          <a:xfrm>
            <a:off x="14980816" y="7862664"/>
            <a:ext cx="2240384" cy="588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10.1%</a:t>
            </a:r>
            <a:endParaRPr lang="en-US" sz="1425" dirty="0"/>
          </a:p>
        </p:txBody>
      </p:sp>
      <p:sp>
        <p:nvSpPr>
          <p:cNvPr id="82" name="Shape 79"/>
          <p:cNvSpPr/>
          <p:nvPr/>
        </p:nvSpPr>
        <p:spPr>
          <a:xfrm>
            <a:off x="914400" y="9510713"/>
            <a:ext cx="1152138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3" name="Shape 80"/>
          <p:cNvSpPr/>
          <p:nvPr/>
        </p:nvSpPr>
        <p:spPr>
          <a:xfrm>
            <a:off x="914400" y="8594527"/>
            <a:ext cx="11521380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4" name="Text 81"/>
          <p:cNvSpPr/>
          <p:nvPr/>
        </p:nvSpPr>
        <p:spPr>
          <a:xfrm>
            <a:off x="1066800" y="8794552"/>
            <a:ext cx="1156222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Committed capex, 2024–2026</a:t>
            </a:r>
            <a:endParaRPr lang="en-US" sz="1425" dirty="0"/>
          </a:p>
        </p:txBody>
      </p:sp>
      <p:sp>
        <p:nvSpPr>
          <p:cNvPr id="85" name="Shape 82"/>
          <p:cNvSpPr/>
          <p:nvPr/>
        </p:nvSpPr>
        <p:spPr>
          <a:xfrm>
            <a:off x="12435780" y="9510713"/>
            <a:ext cx="2468835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6" name="Shape 83"/>
          <p:cNvSpPr/>
          <p:nvPr/>
        </p:nvSpPr>
        <p:spPr>
          <a:xfrm>
            <a:off x="12435780" y="8594527"/>
            <a:ext cx="2468835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7" name="Text 84"/>
          <p:cNvSpPr/>
          <p:nvPr/>
        </p:nvSpPr>
        <p:spPr>
          <a:xfrm>
            <a:off x="12511980" y="8794552"/>
            <a:ext cx="224023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$745B</a:t>
            </a:r>
            <a:endParaRPr lang="en-US" sz="1425" dirty="0"/>
          </a:p>
        </p:txBody>
      </p:sp>
      <p:sp>
        <p:nvSpPr>
          <p:cNvPr id="88" name="Shape 85"/>
          <p:cNvSpPr/>
          <p:nvPr/>
        </p:nvSpPr>
        <p:spPr>
          <a:xfrm>
            <a:off x="14904616" y="9510713"/>
            <a:ext cx="2468984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9" name="Shape 86"/>
          <p:cNvSpPr/>
          <p:nvPr/>
        </p:nvSpPr>
        <p:spPr>
          <a:xfrm>
            <a:off x="14904616" y="8594527"/>
            <a:ext cx="2468984" cy="95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0" name="Text 87"/>
          <p:cNvSpPr/>
          <p:nvPr/>
        </p:nvSpPr>
        <p:spPr>
          <a:xfrm>
            <a:off x="14980816" y="8794552"/>
            <a:ext cx="224038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425" dirty="0"/>
          </a:p>
        </p:txBody>
      </p:sp>
      <p:sp>
        <p:nvSpPr>
          <p:cNvPr id="91" name="Text 88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228665" y="381000"/>
            <a:ext cx="1144935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Twelve-month view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143000"/>
            <a:ext cx="7618661" cy="147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108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forward calendar — what the board should be watching and when.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800350" y="3040335"/>
            <a:ext cx="19050" cy="1335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4"/>
          <p:cNvSpPr/>
          <p:nvPr/>
        </p:nvSpPr>
        <p:spPr>
          <a:xfrm>
            <a:off x="1885950" y="3254648"/>
            <a:ext cx="76200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 '26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8200" y="3554685"/>
            <a:ext cx="173355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75" spc="9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APR–JUN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200400" y="3268935"/>
            <a:ext cx="1459839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capex guide-down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00400" y="3626123"/>
            <a:ext cx="715471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least one hyperscaler will revise FY27 capex guidance materially. The reaction — or absence of one — is the signal.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2800350" y="4756696"/>
            <a:ext cx="19050" cy="1335435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9"/>
          <p:cNvSpPr/>
          <p:nvPr/>
        </p:nvSpPr>
        <p:spPr>
          <a:xfrm>
            <a:off x="1885950" y="4971008"/>
            <a:ext cx="76200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'26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8200" y="5271046"/>
            <a:ext cx="173355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75" spc="9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JUL–SEP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3200400" y="4985296"/>
            <a:ext cx="1459839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renewal cohort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200400" y="5342483"/>
            <a:ext cx="715471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12-month AI contracts renewed under reconciled expectations. Expected churn: 18–28% of seat volume, not of logos.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2800350" y="6473130"/>
            <a:ext cx="19050" cy="1335435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4"/>
          <p:cNvSpPr/>
          <p:nvPr/>
        </p:nvSpPr>
        <p:spPr>
          <a:xfrm>
            <a:off x="1885950" y="6687443"/>
            <a:ext cx="76200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 '26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8200" y="6987480"/>
            <a:ext cx="173355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75" spc="9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OCT–DEC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3200400" y="6701730"/>
            <a:ext cx="1459839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economics disclosure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200400" y="7058918"/>
            <a:ext cx="715471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on at least one lab to disclose per-query unit economics. This becomes the moment the conversation shifts from scale to margin.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2800350" y="8189565"/>
            <a:ext cx="19050" cy="1335435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19"/>
          <p:cNvSpPr/>
          <p:nvPr/>
        </p:nvSpPr>
        <p:spPr>
          <a:xfrm>
            <a:off x="1885950" y="8403878"/>
            <a:ext cx="76200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'27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38200" y="8703915"/>
            <a:ext cx="173355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75" spc="9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JAN–MAR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3200400" y="8418165"/>
            <a:ext cx="1459839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planning reset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3200400" y="8775353"/>
            <a:ext cx="715471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full budget cycle where AI line items are treated as mature spend, not growth bets. Governance moves from CIO to CFO.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914400" y="9801225"/>
            <a:ext cx="214238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TIER 2 DERIVED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5914340" y="381000"/>
            <a:ext cx="1459260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· Methodology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7618661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108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Sources, tiers, and the arithmetic behind every figure in this deck.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914400" y="3122265"/>
            <a:ext cx="79248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65090"/>
            <a:ext cx="816254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SOURCES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123950" y="3379440"/>
            <a:ext cx="17395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Hyperscaler 10-K filings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787328" y="3379440"/>
            <a:ext cx="1698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most recent fiscal year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1123950" y="3612803"/>
            <a:ext cx="7946708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Microsoft · Alphabet · Amazon · Meta · Oracle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3950" y="3925193"/>
            <a:ext cx="19545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Earnings calls &amp; transcripts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3002310" y="3925193"/>
            <a:ext cx="16110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Q1 '26 + Q4 '25 cycle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1123950" y="4158555"/>
            <a:ext cx="7946708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management capex guidance + Q&amp;A segments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3950" y="4470946"/>
            <a:ext cx="20373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FERC interconnection queue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1123950" y="4704308"/>
            <a:ext cx="7946708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data, 2024–2028 pipeline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3950" y="5016698"/>
            <a:ext cx="23131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Ledger derived dataset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1123950" y="5250061"/>
            <a:ext cx="7946708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ledger.hepburnadvisory.com.au/methodology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448800" y="3122265"/>
            <a:ext cx="79248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19" name="Text 16"/>
          <p:cNvSpPr/>
          <p:nvPr/>
        </p:nvSpPr>
        <p:spPr>
          <a:xfrm>
            <a:off x="9448800" y="2865090"/>
            <a:ext cx="816254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 TIERS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9448800" y="3374678"/>
            <a:ext cx="762000" cy="180975"/>
          </a:xfrm>
          <a:prstGeom prst="roundRect">
            <a:avLst>
              <a:gd name="adj" fmla="val 21053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486900" y="3412778"/>
            <a:ext cx="6858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b="1" spc="41" kern="0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10363200" y="3360390"/>
            <a:ext cx="722071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Sourced · High confidence.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Pulled directly from a primary filing or disclosure.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448800" y="3665190"/>
            <a:ext cx="762000" cy="180975"/>
          </a:xfrm>
          <a:prstGeom prst="roundRect">
            <a:avLst>
              <a:gd name="adj" fmla="val 21053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9486900" y="3703290"/>
            <a:ext cx="6858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b="1" spc="41" kern="0" dirty="0">
                <a:solidFill>
                  <a:srgbClr val="D9770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2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0363200" y="3650903"/>
            <a:ext cx="722071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Derived · Medium confidence.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Reconciled or triangulated from ≥2 sources.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448800" y="3955703"/>
            <a:ext cx="762000" cy="180975"/>
          </a:xfrm>
          <a:prstGeom prst="roundRect">
            <a:avLst>
              <a:gd name="adj" fmla="val 21053"/>
            </a:avLst>
          </a:prstGeom>
          <a:solidFill>
            <a:srgbClr val="8B5CF6">
              <a:alpha val="8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9486900" y="3993803"/>
            <a:ext cx="6858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b="1" spc="41" kern="0" dirty="0">
                <a:solidFill>
                  <a:srgbClr val="7C3A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3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10363200" y="3941415"/>
            <a:ext cx="722071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Modeled · Lower confidence.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Estimated; method disclosed on the slide.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48800" y="4774853"/>
            <a:ext cx="7924800" cy="9525"/>
          </a:xfrm>
          <a:prstGeom prst="rect">
            <a:avLst/>
          </a:prstGeom>
          <a:solidFill>
            <a:srgbClr val="E7E5DC"/>
          </a:solidFill>
          <a:ln/>
        </p:spPr>
      </p:sp>
      <p:sp>
        <p:nvSpPr>
          <p:cNvPr id="30" name="Text 27"/>
          <p:cNvSpPr/>
          <p:nvPr/>
        </p:nvSpPr>
        <p:spPr>
          <a:xfrm>
            <a:off x="9448800" y="4517678"/>
            <a:ext cx="816254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37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GAPS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9658350" y="5012978"/>
            <a:ext cx="795299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lab revenue.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ex-OpenAI are modeled from indirect disclosures.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9658350" y="5360640"/>
            <a:ext cx="795299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/ gov AI spend.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Under-captured; likely understates total capex by 8–12%.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9658350" y="5708303"/>
            <a:ext cx="795299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Per-query unit economics.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disclosed by any major lab as of Q1 '26.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914400" y="9801225"/>
            <a:ext cx="228488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spc="66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METHODOLOGY V1.3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354425" y="381000"/>
            <a:ext cx="1019175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 of briefing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13967519" cy="190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52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questions for your next board pack.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914400" y="4532263"/>
            <a:ext cx="164592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922788"/>
            <a:ext cx="53893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5189488"/>
            <a:ext cx="53893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spc="-3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of our AI line items is revenue, and which is implementation tax?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14400" y="5932438"/>
            <a:ext cx="5389321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scope: current FY P&amp;L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27750" y="4922788"/>
            <a:ext cx="5389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27750" y="5189488"/>
            <a:ext cx="538939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spc="-3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our plan if hyperscaler capex contracts 20% in 2027?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27750" y="5932438"/>
            <a:ext cx="538939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scope: vendor concentration map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2141175" y="4922788"/>
            <a:ext cx="53893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2141175" y="5189488"/>
            <a:ext cx="538939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spc="-3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Where's the arithmetic we can't yet answer?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2141175" y="5932438"/>
            <a:ext cx="538939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scope: data gaps · commission follow-up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447675"/>
            <a:ext cx="13296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Hepburn Advisory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16857315" y="381000"/>
            <a:ext cx="516285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914400" y="3504679"/>
            <a:ext cx="4816618" cy="970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5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14400" y="5123111"/>
            <a:ext cx="727850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time, the questions, and the chance to show our work.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914400" y="5896421"/>
            <a:ext cx="100584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6286946"/>
            <a:ext cx="317868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6534596"/>
            <a:ext cx="31786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info@hepburnadvisory.com.au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86300" y="6286946"/>
            <a:ext cx="2590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86300" y="6534596"/>
            <a:ext cx="25908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hepburnadvisory.com.au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86700" y="6286946"/>
            <a:ext cx="317868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86700" y="6534596"/>
            <a:ext cx="31786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linkedin.com/in/simonbowker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6893480" y="9791700"/>
            <a:ext cx="556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2026-04-23T23:52:58Z</dcterms:created>
  <dcterms:modified xsi:type="dcterms:W3CDTF">2026-04-23T23:52:58Z</dcterms:modified>
</cp:coreProperties>
</file>