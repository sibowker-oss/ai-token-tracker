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32" d="100"/>
          <a:sy n="132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B76B-0527-D42F-574B-0A439936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09628-C904-AA46-986D-AAD8F47B2BE5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10F4B-E9EB-B2D6-C1AF-0D3AC657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6649-8AAA-357D-A16B-0AA7452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50957-24E4-CF4F-A148-17C0F0A608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9025-B283-DAEE-D9D9-AEE7F0D8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43DB4-64E7-2346-9678-A60DE7B6F81F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AFE6E-2EF1-9499-6908-36A928FA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F21C9-ED2A-22BD-DC83-8FCFA729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1683C-6B45-4C4A-95E9-74B32654BC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78AEF-0EA3-B848-13C6-EBDBBC33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55E76-A160-0F46-8F1E-69890A28ED57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ABB9-21CC-91DC-7BF4-7313CA8A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6944E-A91D-8800-AEBC-8C8000AA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B124C-B43F-0347-8763-59A67FDD7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2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8B56CA-F4FD-6D10-E322-09FCBF04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03C18-884E-154B-9D8B-1EAE6700C717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26E31C-A201-AC5D-B565-536F3187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CFDCEF-C06C-67C2-E255-00C629C1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42A02-151D-DE4A-B22D-AA8A98D85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0B420F2-9F9E-9850-2A17-9BA9FF0F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876FE-25FA-584F-9DB3-14C00C346FA7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CF09D2-9898-FF88-DF77-60F3B9D5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CB705BD-7505-061D-D0B5-6D56C170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7358-EB5C-0640-98F5-C5EEE8675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C632D21-33EF-ABBD-CBF1-B44095C7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A1F49-6DD6-A842-A040-455744AED787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3C4622-F3EF-69B4-39C1-2D8FAEE1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D7BE4F-881F-7715-7E0B-CDE916B1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2AD6B-5769-9946-98D1-AD9C04BD87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8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0F0E97-C091-D424-AFC7-01A10077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6D2F5-C2A1-5240-96B5-2A0CC0B43A7F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420E2A-1D36-C595-1097-9857E592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7CE593-3B2A-BD53-915F-53EBA7A6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FA7B-F9D5-C944-8F91-18C93FC14D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4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68E1AE-5F28-B518-44E9-705B7905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23968-264F-B44C-9D1A-84FD196C41CE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276DCB7-ABF6-E52C-E9B5-8EAD36CA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7864227-2751-882F-56B1-62E4041F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A176F-C7CF-8C47-9575-5162C4035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4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C4F4D0-C0BF-FFFF-140E-DAB5D2499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31B95-9533-F247-A953-EABD28A6F0AC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A6B7010-D471-6CE0-A442-91164E42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21E520-17E0-49B7-BAF8-F1FED379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6AA9-5E64-614A-B4A7-88E6E28785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A1F2F-0337-C83B-DF48-2149CB45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62DB4-8349-DC4A-B11D-389346CFC147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EBFD9-D989-541B-663B-3E00D432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90793-0F9E-112C-045E-B43256FC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6A178-0DAF-D04B-B481-C3796D06E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4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B34D-7180-38EA-DE8D-E27FA6F4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CE525-C087-6743-8479-4B140D3FB6F6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38693-2D8B-5D16-5735-E8252F51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6FB3-F97B-C5CC-E5A2-890D0133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5B22A-7ECC-C547-BDFF-050FA343BF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6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9D592CC-46CD-D59B-4327-B9280BF38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001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30DC989-3373-92FC-988A-D070F143D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001"/>
              <a:t>Click to edit Master text styles</a:t>
            </a:r>
          </a:p>
          <a:p>
            <a:pPr lvl="1"/>
            <a:r>
              <a:rPr lang="en-US" altLang="en-001"/>
              <a:t>Second level</a:t>
            </a:r>
          </a:p>
          <a:p>
            <a:pPr lvl="2"/>
            <a:r>
              <a:rPr lang="en-US" altLang="en-001"/>
              <a:t>Third level</a:t>
            </a:r>
          </a:p>
          <a:p>
            <a:pPr lvl="3"/>
            <a:r>
              <a:rPr lang="en-US" altLang="en-001"/>
              <a:t>Fourth level</a:t>
            </a:r>
          </a:p>
          <a:p>
            <a:pPr lvl="4"/>
            <a:r>
              <a:rPr lang="en-US" altLang="en-00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3C80-5920-31F4-FFA6-E3DB479B8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8883153-163A-9447-8F8E-C31C7EA54C76}" type="datetimeFigureOut">
              <a:rPr lang="en-US"/>
              <a:pPr>
                <a:defRPr/>
              </a:pPr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A9BA-D049-732A-A224-B4B0C875B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9E38F-B6E9-2B97-A76E-2BDA152D2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38A561D-D9CD-4846-9930-874515FA3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logo-white.png">
            <a:extLst>
              <a:ext uri="{FF2B5EF4-FFF2-40B4-BE49-F238E27FC236}">
                <a16:creationId xmlns:a16="http://schemas.microsoft.com/office/drawing/2014/main" id="{991F27A9-5C0A-D3FF-3F52-6E93FE95A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57200"/>
            <a:ext cx="1646237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12D726-AD8C-8031-93DD-0C7289241C20}"/>
              </a:ext>
            </a:extLst>
          </p:cNvPr>
          <p:cNvSpPr/>
          <p:nvPr/>
        </p:nvSpPr>
        <p:spPr>
          <a:xfrm>
            <a:off x="639763" y="1463675"/>
            <a:ext cx="1371600" cy="36513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52" name="TextBox 3">
            <a:extLst>
              <a:ext uri="{FF2B5EF4-FFF2-40B4-BE49-F238E27FC236}">
                <a16:creationId xmlns:a16="http://schemas.microsoft.com/office/drawing/2014/main" id="{64CD5760-6D2F-22DB-CE3C-F298045A4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828800"/>
            <a:ext cx="78644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3800" b="1">
                <a:solidFill>
                  <a:srgbClr val="FFFFFF"/>
                </a:solidFill>
              </a:rPr>
              <a:t>Presentation Title</a:t>
            </a:r>
          </a:p>
        </p:txBody>
      </p:sp>
      <p:sp>
        <p:nvSpPr>
          <p:cNvPr id="2053" name="TextBox 4">
            <a:extLst>
              <a:ext uri="{FF2B5EF4-FFF2-40B4-BE49-F238E27FC236}">
                <a16:creationId xmlns:a16="http://schemas.microsoft.com/office/drawing/2014/main" id="{64063546-3A55-A65E-523C-DF9AF5F88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017838"/>
            <a:ext cx="786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999999"/>
                </a:solidFill>
              </a:rPr>
              <a:t>Subtitle or engagement description</a:t>
            </a:r>
          </a:p>
        </p:txBody>
      </p:sp>
      <p:sp>
        <p:nvSpPr>
          <p:cNvPr id="2054" name="TextBox 5">
            <a:extLst>
              <a:ext uri="{FF2B5EF4-FFF2-40B4-BE49-F238E27FC236}">
                <a16:creationId xmlns:a16="http://schemas.microsoft.com/office/drawing/2014/main" id="{D76E248F-0547-A286-7C76-DF2E68FAC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97363"/>
            <a:ext cx="7864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100">
                <a:solidFill>
                  <a:srgbClr val="666666"/>
                </a:solidFill>
              </a:rPr>
              <a:t>Client Name  |  Month Year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55E358-EFD5-AE35-C618-841AF84F3B2F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2FE8D36E-AC36-CC24-A00B-FC043A1A9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65125"/>
            <a:ext cx="7864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3200" b="1">
                <a:solidFill>
                  <a:srgbClr val="1A1A1A"/>
                </a:solidFill>
              </a:rPr>
              <a:t>Agenda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93E0AA-1CCD-95BC-72B5-7A19B660EA6C}"/>
              </a:ext>
            </a:extLst>
          </p:cNvPr>
          <p:cNvSpPr/>
          <p:nvPr/>
        </p:nvSpPr>
        <p:spPr>
          <a:xfrm>
            <a:off x="639763" y="1325563"/>
            <a:ext cx="384175" cy="384175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77" name="TextBox 4">
            <a:extLst>
              <a:ext uri="{FF2B5EF4-FFF2-40B4-BE49-F238E27FC236}">
                <a16:creationId xmlns:a16="http://schemas.microsoft.com/office/drawing/2014/main" id="{199CA17E-19E3-AC1C-1628-8E98D4BAA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325563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78" name="TextBox 5">
            <a:extLst>
              <a:ext uri="{FF2B5EF4-FFF2-40B4-BE49-F238E27FC236}">
                <a16:creationId xmlns:a16="http://schemas.microsoft.com/office/drawing/2014/main" id="{0E5C30D8-4295-3C0B-86F3-1AE6F7F2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1325563"/>
            <a:ext cx="6858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333333"/>
                </a:solidFill>
              </a:rPr>
              <a:t>Context &amp; Objectives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B6E0AF-AE65-019A-41C2-3D74DC4E740F}"/>
              </a:ext>
            </a:extLst>
          </p:cNvPr>
          <p:cNvSpPr/>
          <p:nvPr/>
        </p:nvSpPr>
        <p:spPr>
          <a:xfrm>
            <a:off x="639763" y="1984375"/>
            <a:ext cx="384175" cy="384175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0" name="TextBox 7">
            <a:extLst>
              <a:ext uri="{FF2B5EF4-FFF2-40B4-BE49-F238E27FC236}">
                <a16:creationId xmlns:a16="http://schemas.microsoft.com/office/drawing/2014/main" id="{25E565C9-E635-3539-2537-A95E8CBF3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984375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81" name="TextBox 8">
            <a:extLst>
              <a:ext uri="{FF2B5EF4-FFF2-40B4-BE49-F238E27FC236}">
                <a16:creationId xmlns:a16="http://schemas.microsoft.com/office/drawing/2014/main" id="{68794908-D733-DED3-94E3-98730FB0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1984375"/>
            <a:ext cx="6858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333333"/>
                </a:solidFill>
              </a:rPr>
              <a:t>Market Landscape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588004-C17B-2F56-6BD6-986F061036A7}"/>
              </a:ext>
            </a:extLst>
          </p:cNvPr>
          <p:cNvSpPr/>
          <p:nvPr/>
        </p:nvSpPr>
        <p:spPr>
          <a:xfrm>
            <a:off x="639763" y="2643188"/>
            <a:ext cx="384175" cy="384175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3" name="TextBox 10">
            <a:extLst>
              <a:ext uri="{FF2B5EF4-FFF2-40B4-BE49-F238E27FC236}">
                <a16:creationId xmlns:a16="http://schemas.microsoft.com/office/drawing/2014/main" id="{FFC12660-8F37-248A-182D-C7E1A31F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643188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84" name="TextBox 11">
            <a:extLst>
              <a:ext uri="{FF2B5EF4-FFF2-40B4-BE49-F238E27FC236}">
                <a16:creationId xmlns:a16="http://schemas.microsoft.com/office/drawing/2014/main" id="{A3E580F4-46D2-B211-674F-11F84182D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2643188"/>
            <a:ext cx="6858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333333"/>
                </a:solidFill>
              </a:rPr>
              <a:t>Strategic Recommendations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717D70-7A10-079D-3743-F25E0E0890EA}"/>
              </a:ext>
            </a:extLst>
          </p:cNvPr>
          <p:cNvSpPr/>
          <p:nvPr/>
        </p:nvSpPr>
        <p:spPr>
          <a:xfrm>
            <a:off x="639763" y="3300413"/>
            <a:ext cx="384175" cy="384175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6" name="TextBox 13">
            <a:extLst>
              <a:ext uri="{FF2B5EF4-FFF2-40B4-BE49-F238E27FC236}">
                <a16:creationId xmlns:a16="http://schemas.microsoft.com/office/drawing/2014/main" id="{CCE5CDE8-2EA7-2E20-C7FC-5D84D7BD7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300413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87" name="TextBox 14">
            <a:extLst>
              <a:ext uri="{FF2B5EF4-FFF2-40B4-BE49-F238E27FC236}">
                <a16:creationId xmlns:a16="http://schemas.microsoft.com/office/drawing/2014/main" id="{02FC45F7-FA73-4022-F2B0-3F0F1B54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3300413"/>
            <a:ext cx="6858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333333"/>
                </a:solidFill>
              </a:rPr>
              <a:t>Commercialisation Roadmap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1B5821-BDFC-9C66-C607-CF49C2D3779C}"/>
              </a:ext>
            </a:extLst>
          </p:cNvPr>
          <p:cNvSpPr/>
          <p:nvPr/>
        </p:nvSpPr>
        <p:spPr>
          <a:xfrm>
            <a:off x="639763" y="3959225"/>
            <a:ext cx="384175" cy="384175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89" name="TextBox 16">
            <a:extLst>
              <a:ext uri="{FF2B5EF4-FFF2-40B4-BE49-F238E27FC236}">
                <a16:creationId xmlns:a16="http://schemas.microsoft.com/office/drawing/2014/main" id="{24286099-272A-DE1B-7F19-B2AE81DF0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959225"/>
            <a:ext cx="384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90" name="TextBox 17">
            <a:extLst>
              <a:ext uri="{FF2B5EF4-FFF2-40B4-BE49-F238E27FC236}">
                <a16:creationId xmlns:a16="http://schemas.microsoft.com/office/drawing/2014/main" id="{BA275882-986E-B178-12F4-414368EC8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3959225"/>
            <a:ext cx="6858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600">
                <a:solidFill>
                  <a:srgbClr val="333333"/>
                </a:solidFill>
              </a:rPr>
              <a:t>Next Steps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609E54-ED7F-783F-066F-7DE57750379F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3092" name="Picture 19" descr="logo.png">
            <a:extLst>
              <a:ext uri="{FF2B5EF4-FFF2-40B4-BE49-F238E27FC236}">
                <a16:creationId xmlns:a16="http://schemas.microsoft.com/office/drawing/2014/main" id="{DD24C5FD-E48F-D195-AB0F-6CAAC92E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3" name="TextBox 20">
            <a:extLst>
              <a:ext uri="{FF2B5EF4-FFF2-40B4-BE49-F238E27FC236}">
                <a16:creationId xmlns:a16="http://schemas.microsoft.com/office/drawing/2014/main" id="{9D4369BC-A483-9AA8-EC10-B1F8505D0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>
            <a:extLst>
              <a:ext uri="{FF2B5EF4-FFF2-40B4-BE49-F238E27FC236}">
                <a16:creationId xmlns:a16="http://schemas.microsoft.com/office/drawing/2014/main" id="{A4AA2B2D-E021-696E-8DFC-2C3583D3A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096963"/>
            <a:ext cx="18288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5400" b="1">
                <a:solidFill>
                  <a:srgbClr val="1A6EF5"/>
                </a:solidFill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B7CDF4-C595-5E70-A877-D16C6266445C}"/>
              </a:ext>
            </a:extLst>
          </p:cNvPr>
          <p:cNvSpPr/>
          <p:nvPr/>
        </p:nvSpPr>
        <p:spPr>
          <a:xfrm>
            <a:off x="639763" y="2011363"/>
            <a:ext cx="1371600" cy="36512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100" name="TextBox 3">
            <a:extLst>
              <a:ext uri="{FF2B5EF4-FFF2-40B4-BE49-F238E27FC236}">
                <a16:creationId xmlns:a16="http://schemas.microsoft.com/office/drawing/2014/main" id="{5144379C-0C55-ACFE-9CF1-48B0FDAF2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286000"/>
            <a:ext cx="7864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3200" b="1">
                <a:solidFill>
                  <a:srgbClr val="FFFFFF"/>
                </a:solidFill>
              </a:rPr>
              <a:t>Section Title</a:t>
            </a:r>
          </a:p>
        </p:txBody>
      </p:sp>
      <p:sp>
        <p:nvSpPr>
          <p:cNvPr id="4101" name="TextBox 4">
            <a:extLst>
              <a:ext uri="{FF2B5EF4-FFF2-40B4-BE49-F238E27FC236}">
                <a16:creationId xmlns:a16="http://schemas.microsoft.com/office/drawing/2014/main" id="{9B57F12D-693F-BF1C-ABE7-2E0B4923C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0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400">
                <a:solidFill>
                  <a:srgbClr val="999999"/>
                </a:solidFill>
              </a:rPr>
              <a:t>Brief description of what this section covers.</a:t>
            </a:r>
          </a:p>
        </p:txBody>
      </p:sp>
      <p:pic>
        <p:nvPicPr>
          <p:cNvPr id="4102" name="Picture 5" descr="logo-white.png">
            <a:extLst>
              <a:ext uri="{FF2B5EF4-FFF2-40B4-BE49-F238E27FC236}">
                <a16:creationId xmlns:a16="http://schemas.microsoft.com/office/drawing/2014/main" id="{DEFD7B57-0164-B6F3-1400-5B25A4890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35475"/>
            <a:ext cx="10969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DC9A0-6D96-D86C-9B4F-777B4BDC122C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123" name="TextBox 2">
            <a:extLst>
              <a:ext uri="{FF2B5EF4-FFF2-40B4-BE49-F238E27FC236}">
                <a16:creationId xmlns:a16="http://schemas.microsoft.com/office/drawing/2014/main" id="{6E3A6586-900E-5F93-8643-8C1C4DD43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1A1A1A"/>
                </a:solidFill>
              </a:rPr>
              <a:t>Content Slide Title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A1B89B54-2302-5E1E-4BE7-2184AE85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189038"/>
            <a:ext cx="7864475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500">
                <a:solidFill>
                  <a:srgbClr val="333333"/>
                </a:solidFill>
              </a:rPr>
              <a:t>Body text goes here. Use this slide for narrative content, analysis, and key observations. Keep paragraphs short and focused on a single idea per slide.</a:t>
            </a:r>
            <a:br>
              <a:rPr lang="en-001" altLang="en-001" sz="1500">
                <a:solidFill>
                  <a:srgbClr val="333333"/>
                </a:solidFill>
              </a:rPr>
            </a:br>
            <a:br>
              <a:rPr lang="en-001" altLang="en-001" sz="1500">
                <a:solidFill>
                  <a:srgbClr val="333333"/>
                </a:solidFill>
              </a:rPr>
            </a:br>
            <a:r>
              <a:rPr lang="en-001" altLang="en-001" sz="1500">
                <a:solidFill>
                  <a:srgbClr val="333333"/>
                </a:solidFill>
              </a:rPr>
              <a:t>Supporting detail or secondary point can follow here.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98376-394E-D621-DCC6-27E209007AAF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5126" name="Picture 5" descr="logo.png">
            <a:extLst>
              <a:ext uri="{FF2B5EF4-FFF2-40B4-BE49-F238E27FC236}">
                <a16:creationId xmlns:a16="http://schemas.microsoft.com/office/drawing/2014/main" id="{1175C080-7F35-D428-DD3F-48EC23E2F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TextBox 6">
            <a:extLst>
              <a:ext uri="{FF2B5EF4-FFF2-40B4-BE49-F238E27FC236}">
                <a16:creationId xmlns:a16="http://schemas.microsoft.com/office/drawing/2014/main" id="{DD4B50D2-7DB6-4133-2F55-9483825E6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426860-5CFB-3265-CCB6-49CD256CB883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47" name="TextBox 2">
            <a:extLst>
              <a:ext uri="{FF2B5EF4-FFF2-40B4-BE49-F238E27FC236}">
                <a16:creationId xmlns:a16="http://schemas.microsoft.com/office/drawing/2014/main" id="{B9BD3A5C-E736-A205-5364-37DC81F87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1A1A1A"/>
                </a:solidFill>
              </a:rPr>
              <a:t>Two Column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543A7-0952-54FC-86C5-7112E9F4BD14}"/>
              </a:ext>
            </a:extLst>
          </p:cNvPr>
          <p:cNvSpPr/>
          <p:nvPr/>
        </p:nvSpPr>
        <p:spPr>
          <a:xfrm>
            <a:off x="639763" y="1235075"/>
            <a:ext cx="3749675" cy="32448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8074A-D1AD-E33C-FBD3-8BCDFB61AE70}"/>
              </a:ext>
            </a:extLst>
          </p:cNvPr>
          <p:cNvSpPr/>
          <p:nvPr/>
        </p:nvSpPr>
        <p:spPr>
          <a:xfrm>
            <a:off x="639763" y="1235075"/>
            <a:ext cx="3749675" cy="44450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50" name="TextBox 5">
            <a:extLst>
              <a:ext uri="{FF2B5EF4-FFF2-40B4-BE49-F238E27FC236}">
                <a16:creationId xmlns:a16="http://schemas.microsoft.com/office/drawing/2014/main" id="{40019E05-97AB-4A74-B540-BC7635500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08125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b="1">
                <a:solidFill>
                  <a:srgbClr val="1A1A1A"/>
                </a:solidFill>
              </a:rPr>
              <a:t>Left Column</a:t>
            </a:r>
          </a:p>
        </p:txBody>
      </p:sp>
      <p:sp>
        <p:nvSpPr>
          <p:cNvPr id="6151" name="TextBox 6">
            <a:extLst>
              <a:ext uri="{FF2B5EF4-FFF2-40B4-BE49-F238E27FC236}">
                <a16:creationId xmlns:a16="http://schemas.microsoft.com/office/drawing/2014/main" id="{8A9A7A49-DEA4-EEEE-46F3-61088C886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65325"/>
            <a:ext cx="320040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300">
                <a:solidFill>
                  <a:srgbClr val="333333"/>
                </a:solidFill>
              </a:rPr>
              <a:t>Supporting text or analysis. Use for comparisons, before/after, or parallel concepts.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75995-3AD4-9C93-9065-54CBA2545FBD}"/>
              </a:ext>
            </a:extLst>
          </p:cNvPr>
          <p:cNvSpPr/>
          <p:nvPr/>
        </p:nvSpPr>
        <p:spPr>
          <a:xfrm>
            <a:off x="4754563" y="1235075"/>
            <a:ext cx="3749675" cy="32448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2C4DBE-4B87-9721-55AD-0F707B23A661}"/>
              </a:ext>
            </a:extLst>
          </p:cNvPr>
          <p:cNvSpPr/>
          <p:nvPr/>
        </p:nvSpPr>
        <p:spPr>
          <a:xfrm>
            <a:off x="4754563" y="1235075"/>
            <a:ext cx="3749675" cy="44450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54" name="TextBox 9">
            <a:extLst>
              <a:ext uri="{FF2B5EF4-FFF2-40B4-BE49-F238E27FC236}">
                <a16:creationId xmlns:a16="http://schemas.microsoft.com/office/drawing/2014/main" id="{ADEE4490-C7D8-82A1-6C54-BB74AA4EB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508125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b="1">
                <a:solidFill>
                  <a:srgbClr val="1A1A1A"/>
                </a:solidFill>
              </a:rPr>
              <a:t>Right Column</a:t>
            </a:r>
          </a:p>
        </p:txBody>
      </p:sp>
      <p:sp>
        <p:nvSpPr>
          <p:cNvPr id="6155" name="TextBox 10">
            <a:extLst>
              <a:ext uri="{FF2B5EF4-FFF2-40B4-BE49-F238E27FC236}">
                <a16:creationId xmlns:a16="http://schemas.microsoft.com/office/drawing/2014/main" id="{BDFC2BBF-289E-0E1F-B71C-CE51B715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965325"/>
            <a:ext cx="320040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300">
                <a:solidFill>
                  <a:srgbClr val="333333"/>
                </a:solidFill>
              </a:rPr>
              <a:t>Supporting text or analysis. Use for recommendations, outcomes, or contrasting perspectives.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250B42-3668-5BFC-2775-E1DB56673E24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6157" name="Picture 12" descr="logo.png">
            <a:extLst>
              <a:ext uri="{FF2B5EF4-FFF2-40B4-BE49-F238E27FC236}">
                <a16:creationId xmlns:a16="http://schemas.microsoft.com/office/drawing/2014/main" id="{33A49B82-3E82-311D-CB9B-01F04676F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8" name="TextBox 13">
            <a:extLst>
              <a:ext uri="{FF2B5EF4-FFF2-40B4-BE49-F238E27FC236}">
                <a16:creationId xmlns:a16="http://schemas.microsoft.com/office/drawing/2014/main" id="{396C6927-A12E-9FAC-A069-E46AE342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6124A4-DB6C-F489-A1DA-F863633EF52A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71" name="TextBox 2">
            <a:extLst>
              <a:ext uri="{FF2B5EF4-FFF2-40B4-BE49-F238E27FC236}">
                <a16:creationId xmlns:a16="http://schemas.microsoft.com/office/drawing/2014/main" id="{09B595E0-0805-4F0E-C7FA-FB637FE7F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1A1A1A"/>
                </a:solidFill>
              </a:rPr>
              <a:t>Key Focus Areas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D5EA1-2E16-0CCE-F9F2-4A76F08E87F4}"/>
              </a:ext>
            </a:extLst>
          </p:cNvPr>
          <p:cNvSpPr/>
          <p:nvPr/>
        </p:nvSpPr>
        <p:spPr>
          <a:xfrm>
            <a:off x="639763" y="1235075"/>
            <a:ext cx="2560637" cy="32448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A8632B-7EC2-5849-62EE-3331C1F9D945}"/>
              </a:ext>
            </a:extLst>
          </p:cNvPr>
          <p:cNvSpPr/>
          <p:nvPr/>
        </p:nvSpPr>
        <p:spPr>
          <a:xfrm>
            <a:off x="1463675" y="1508125"/>
            <a:ext cx="914400" cy="914400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74" name="TextBox 5">
            <a:extLst>
              <a:ext uri="{FF2B5EF4-FFF2-40B4-BE49-F238E27FC236}">
                <a16:creationId xmlns:a16="http://schemas.microsoft.com/office/drawing/2014/main" id="{0B4AFE62-8415-AE28-47BA-1D119D083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2606675"/>
            <a:ext cx="219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1A1A1A"/>
                </a:solidFill>
              </a:rPr>
              <a:t>AI Commercialisation</a:t>
            </a:r>
          </a:p>
        </p:txBody>
      </p:sp>
      <p:sp>
        <p:nvSpPr>
          <p:cNvPr id="7175" name="TextBox 6">
            <a:extLst>
              <a:ext uri="{FF2B5EF4-FFF2-40B4-BE49-F238E27FC236}">
                <a16:creationId xmlns:a16="http://schemas.microsoft.com/office/drawing/2014/main" id="{D1F10A10-CC4C-2365-F479-7E622A10D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108325"/>
            <a:ext cx="219551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Go-to-market strategy, pricing, positioning and revenue architecture for AI products.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5E7AE-5858-ADE5-AC5D-267403D9BE9D}"/>
              </a:ext>
            </a:extLst>
          </p:cNvPr>
          <p:cNvSpPr/>
          <p:nvPr/>
        </p:nvSpPr>
        <p:spPr>
          <a:xfrm>
            <a:off x="3475038" y="1235075"/>
            <a:ext cx="2560637" cy="32448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C3F6DC-2AE7-643C-0E93-F68898A8EB3B}"/>
              </a:ext>
            </a:extLst>
          </p:cNvPr>
          <p:cNvSpPr/>
          <p:nvPr/>
        </p:nvSpPr>
        <p:spPr>
          <a:xfrm>
            <a:off x="4297363" y="1508125"/>
            <a:ext cx="914400" cy="914400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78" name="TextBox 9">
            <a:extLst>
              <a:ext uri="{FF2B5EF4-FFF2-40B4-BE49-F238E27FC236}">
                <a16:creationId xmlns:a16="http://schemas.microsoft.com/office/drawing/2014/main" id="{862BF50F-9A92-2EA1-48CF-9C23B4E5D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606675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1A1A1A"/>
                </a:solidFill>
              </a:rPr>
              <a:t>Embedded Leadership</a:t>
            </a:r>
          </a:p>
        </p:txBody>
      </p:sp>
      <p:sp>
        <p:nvSpPr>
          <p:cNvPr id="7179" name="TextBox 10">
            <a:extLst>
              <a:ext uri="{FF2B5EF4-FFF2-40B4-BE49-F238E27FC236}">
                <a16:creationId xmlns:a16="http://schemas.microsoft.com/office/drawing/2014/main" id="{313A59A1-F3CA-599C-5D2D-CB0B2CFE4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108325"/>
            <a:ext cx="21939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Hands-on executive leadership integrated directly into your team during critical growth phases.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21DAB-1A57-CF08-6B0C-C0857CC00D75}"/>
              </a:ext>
            </a:extLst>
          </p:cNvPr>
          <p:cNvSpPr/>
          <p:nvPr/>
        </p:nvSpPr>
        <p:spPr>
          <a:xfrm>
            <a:off x="6308725" y="1235075"/>
            <a:ext cx="2560638" cy="32448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9E4-897E-5A64-67AB-DD8033F3CB43}"/>
              </a:ext>
            </a:extLst>
          </p:cNvPr>
          <p:cNvSpPr/>
          <p:nvPr/>
        </p:nvSpPr>
        <p:spPr>
          <a:xfrm>
            <a:off x="7132638" y="1508125"/>
            <a:ext cx="914400" cy="914400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82" name="TextBox 13">
            <a:extLst>
              <a:ext uri="{FF2B5EF4-FFF2-40B4-BE49-F238E27FC236}">
                <a16:creationId xmlns:a16="http://schemas.microsoft.com/office/drawing/2014/main" id="{CB02C0D6-02BC-393C-ACE8-830123710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606675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400" b="1">
                <a:solidFill>
                  <a:srgbClr val="1A1A1A"/>
                </a:solidFill>
              </a:rPr>
              <a:t>Growth Strategy</a:t>
            </a:r>
          </a:p>
        </p:txBody>
      </p:sp>
      <p:sp>
        <p:nvSpPr>
          <p:cNvPr id="7183" name="TextBox 14">
            <a:extLst>
              <a:ext uri="{FF2B5EF4-FFF2-40B4-BE49-F238E27FC236}">
                <a16:creationId xmlns:a16="http://schemas.microsoft.com/office/drawing/2014/main" id="{D398055B-1563-73F0-98FB-ED898DD17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3108325"/>
            <a:ext cx="21939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Market entry, channel development, and scalable growth frameworks for early-stage companies.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D5F5AD-CBB9-0FC8-9034-EF909786C491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7185" name="Picture 16" descr="logo.png">
            <a:extLst>
              <a:ext uri="{FF2B5EF4-FFF2-40B4-BE49-F238E27FC236}">
                <a16:creationId xmlns:a16="http://schemas.microsoft.com/office/drawing/2014/main" id="{E483E55C-3F1C-5493-15DE-E5F43FFB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6" name="TextBox 17">
            <a:extLst>
              <a:ext uri="{FF2B5EF4-FFF2-40B4-BE49-F238E27FC236}">
                <a16:creationId xmlns:a16="http://schemas.microsoft.com/office/drawing/2014/main" id="{71B3544C-6867-28E7-FFF1-F4123A41A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>
            <a:extLst>
              <a:ext uri="{FF2B5EF4-FFF2-40B4-BE49-F238E27FC236}">
                <a16:creationId xmlns:a16="http://schemas.microsoft.com/office/drawing/2014/main" id="{A6B59983-E37A-F93A-B277-5D9EF4EF6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BF9FC3-BE45-88A8-37FE-A05F5D4644D0}"/>
              </a:ext>
            </a:extLst>
          </p:cNvPr>
          <p:cNvSpPr/>
          <p:nvPr/>
        </p:nvSpPr>
        <p:spPr>
          <a:xfrm>
            <a:off x="457200" y="1279525"/>
            <a:ext cx="1874838" cy="256063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196" name="TextBox 3">
            <a:extLst>
              <a:ext uri="{FF2B5EF4-FFF2-40B4-BE49-F238E27FC236}">
                <a16:creationId xmlns:a16="http://schemas.microsoft.com/office/drawing/2014/main" id="{11F99933-15CB-A981-934F-FCC3E1161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54163"/>
            <a:ext cx="1874838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4200" b="1">
                <a:solidFill>
                  <a:srgbClr val="1A6EF5"/>
                </a:solidFill>
              </a:rPr>
              <a:t>3.2x</a:t>
            </a:r>
          </a:p>
        </p:txBody>
      </p:sp>
      <p:sp>
        <p:nvSpPr>
          <p:cNvPr id="8197" name="TextBox 4">
            <a:extLst>
              <a:ext uri="{FF2B5EF4-FFF2-40B4-BE49-F238E27FC236}">
                <a16:creationId xmlns:a16="http://schemas.microsoft.com/office/drawing/2014/main" id="{D98009FE-A31E-1117-5260-A72E2ADF9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3200"/>
            <a:ext cx="18748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200">
                <a:solidFill>
                  <a:srgbClr val="999999"/>
                </a:solidFill>
              </a:rPr>
              <a:t>Revenue</a:t>
            </a:r>
            <a:br>
              <a:rPr lang="en-001" altLang="en-001" sz="1200">
                <a:solidFill>
                  <a:srgbClr val="999999"/>
                </a:solidFill>
              </a:rPr>
            </a:br>
            <a:r>
              <a:rPr lang="en-001" altLang="en-001" sz="1200">
                <a:solidFill>
                  <a:srgbClr val="999999"/>
                </a:solidFill>
              </a:rPr>
              <a:t>Multiplier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1B23E-BB62-0459-11EA-130394FBE24D}"/>
              </a:ext>
            </a:extLst>
          </p:cNvPr>
          <p:cNvSpPr/>
          <p:nvPr/>
        </p:nvSpPr>
        <p:spPr>
          <a:xfrm>
            <a:off x="2606675" y="1279525"/>
            <a:ext cx="1873250" cy="256063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199" name="TextBox 6">
            <a:extLst>
              <a:ext uri="{FF2B5EF4-FFF2-40B4-BE49-F238E27FC236}">
                <a16:creationId xmlns:a16="http://schemas.microsoft.com/office/drawing/2014/main" id="{CCB1797A-0DA9-0AA5-B2DE-008A3FA18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1554163"/>
            <a:ext cx="187325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4200" b="1">
                <a:solidFill>
                  <a:srgbClr val="1A6EF5"/>
                </a:solidFill>
              </a:rPr>
              <a:t>47%</a:t>
            </a:r>
          </a:p>
        </p:txBody>
      </p:sp>
      <p:sp>
        <p:nvSpPr>
          <p:cNvPr id="8200" name="TextBox 7">
            <a:extLst>
              <a:ext uri="{FF2B5EF4-FFF2-40B4-BE49-F238E27FC236}">
                <a16:creationId xmlns:a16="http://schemas.microsoft.com/office/drawing/2014/main" id="{1F5A4952-28CE-ED27-6D4B-E112A448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2743200"/>
            <a:ext cx="18732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200">
                <a:solidFill>
                  <a:srgbClr val="999999"/>
                </a:solidFill>
              </a:rPr>
              <a:t>Faster Time</a:t>
            </a:r>
            <a:br>
              <a:rPr lang="en-001" altLang="en-001" sz="1200">
                <a:solidFill>
                  <a:srgbClr val="999999"/>
                </a:solidFill>
              </a:rPr>
            </a:br>
            <a:r>
              <a:rPr lang="en-001" altLang="en-001" sz="1200">
                <a:solidFill>
                  <a:srgbClr val="999999"/>
                </a:solidFill>
              </a:rPr>
              <a:t>to Market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BCA374-8535-8149-A2E9-C6ED6678032D}"/>
              </a:ext>
            </a:extLst>
          </p:cNvPr>
          <p:cNvSpPr/>
          <p:nvPr/>
        </p:nvSpPr>
        <p:spPr>
          <a:xfrm>
            <a:off x="4754563" y="1279525"/>
            <a:ext cx="1874837" cy="256063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202" name="TextBox 9">
            <a:extLst>
              <a:ext uri="{FF2B5EF4-FFF2-40B4-BE49-F238E27FC236}">
                <a16:creationId xmlns:a16="http://schemas.microsoft.com/office/drawing/2014/main" id="{4C624A67-B2CD-DAEE-331A-DD9C0F38F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1554163"/>
            <a:ext cx="1874837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4200" b="1">
                <a:solidFill>
                  <a:srgbClr val="1A6EF5"/>
                </a:solidFill>
              </a:rPr>
              <a:t>85%</a:t>
            </a:r>
          </a:p>
        </p:txBody>
      </p:sp>
      <p:sp>
        <p:nvSpPr>
          <p:cNvPr id="8203" name="TextBox 10">
            <a:extLst>
              <a:ext uri="{FF2B5EF4-FFF2-40B4-BE49-F238E27FC236}">
                <a16:creationId xmlns:a16="http://schemas.microsoft.com/office/drawing/2014/main" id="{F1B3EFE0-7659-9918-5751-D0D97A4D2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2743200"/>
            <a:ext cx="18748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200">
                <a:solidFill>
                  <a:srgbClr val="999999"/>
                </a:solidFill>
              </a:rPr>
              <a:t>Client</a:t>
            </a:r>
            <a:br>
              <a:rPr lang="en-001" altLang="en-001" sz="1200">
                <a:solidFill>
                  <a:srgbClr val="999999"/>
                </a:solidFill>
              </a:rPr>
            </a:br>
            <a:r>
              <a:rPr lang="en-001" altLang="en-001" sz="1200">
                <a:solidFill>
                  <a:srgbClr val="999999"/>
                </a:solidFill>
              </a:rPr>
              <a:t>Retention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025F8D-84F5-8ECF-F9AF-2BD8E8A2FAC4}"/>
              </a:ext>
            </a:extLst>
          </p:cNvPr>
          <p:cNvSpPr/>
          <p:nvPr/>
        </p:nvSpPr>
        <p:spPr>
          <a:xfrm>
            <a:off x="6904038" y="1279525"/>
            <a:ext cx="1874837" cy="256063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205" name="TextBox 12">
            <a:extLst>
              <a:ext uri="{FF2B5EF4-FFF2-40B4-BE49-F238E27FC236}">
                <a16:creationId xmlns:a16="http://schemas.microsoft.com/office/drawing/2014/main" id="{414581A8-F1AA-1BED-F740-3CDFDE56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1554163"/>
            <a:ext cx="1874837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4200" b="1">
                <a:solidFill>
                  <a:srgbClr val="1A6EF5"/>
                </a:solidFill>
              </a:rPr>
              <a:t>$12M</a:t>
            </a:r>
          </a:p>
        </p:txBody>
      </p:sp>
      <p:sp>
        <p:nvSpPr>
          <p:cNvPr id="8206" name="TextBox 13">
            <a:extLst>
              <a:ext uri="{FF2B5EF4-FFF2-40B4-BE49-F238E27FC236}">
                <a16:creationId xmlns:a16="http://schemas.microsoft.com/office/drawing/2014/main" id="{2EAB99D2-6335-FB20-CCF1-2185C2F92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2743200"/>
            <a:ext cx="18748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200">
                <a:solidFill>
                  <a:srgbClr val="999999"/>
                </a:solidFill>
              </a:rPr>
              <a:t>Pipeline</a:t>
            </a:r>
            <a:br>
              <a:rPr lang="en-001" altLang="en-001" sz="1200">
                <a:solidFill>
                  <a:srgbClr val="999999"/>
                </a:solidFill>
              </a:rPr>
            </a:br>
            <a:r>
              <a:rPr lang="en-001" altLang="en-001" sz="1200">
                <a:solidFill>
                  <a:srgbClr val="999999"/>
                </a:solidFill>
              </a:rPr>
              <a:t>Generated</a:t>
            </a:r>
          </a:p>
        </p:txBody>
      </p:sp>
      <p:pic>
        <p:nvPicPr>
          <p:cNvPr id="8207" name="Picture 14" descr="logo-white.png">
            <a:extLst>
              <a:ext uri="{FF2B5EF4-FFF2-40B4-BE49-F238E27FC236}">
                <a16:creationId xmlns:a16="http://schemas.microsoft.com/office/drawing/2014/main" id="{D626CAAC-7741-54F9-9BA4-AE109175F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35475"/>
            <a:ext cx="10969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74EB99-2A8B-59B5-3333-61413E4226D7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19" name="TextBox 2">
            <a:extLst>
              <a:ext uri="{FF2B5EF4-FFF2-40B4-BE49-F238E27FC236}">
                <a16:creationId xmlns:a16="http://schemas.microsoft.com/office/drawing/2014/main" id="{AC41F5A5-7A6D-C299-C292-31EA1B125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1A1A1A"/>
                </a:solidFill>
              </a:rPr>
              <a:t>Engagement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390BFB-7F75-EE69-75E6-F1E8A4A39F79}"/>
              </a:ext>
            </a:extLst>
          </p:cNvPr>
          <p:cNvSpPr/>
          <p:nvPr/>
        </p:nvSpPr>
        <p:spPr>
          <a:xfrm>
            <a:off x="1463675" y="1901825"/>
            <a:ext cx="6400800" cy="26988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6A30CE-5030-AB0A-606F-6B00DEE05A6E}"/>
              </a:ext>
            </a:extLst>
          </p:cNvPr>
          <p:cNvSpPr/>
          <p:nvPr/>
        </p:nvSpPr>
        <p:spPr>
          <a:xfrm>
            <a:off x="1235075" y="1692275"/>
            <a:ext cx="457200" cy="457200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22" name="TextBox 5">
            <a:extLst>
              <a:ext uri="{FF2B5EF4-FFF2-40B4-BE49-F238E27FC236}">
                <a16:creationId xmlns:a16="http://schemas.microsoft.com/office/drawing/2014/main" id="{64B912F4-54B4-0588-3DB0-C15560E5B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16922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223" name="TextBox 6">
            <a:extLst>
              <a:ext uri="{FF2B5EF4-FFF2-40B4-BE49-F238E27FC236}">
                <a16:creationId xmlns:a16="http://schemas.microsoft.com/office/drawing/2014/main" id="{B6B13307-AC14-8BC8-53C8-8A90DBBD4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332038"/>
            <a:ext cx="1828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500" b="1">
                <a:solidFill>
                  <a:srgbClr val="1A1A1A"/>
                </a:solidFill>
              </a:rPr>
              <a:t>Discovery</a:t>
            </a:r>
          </a:p>
        </p:txBody>
      </p:sp>
      <p:sp>
        <p:nvSpPr>
          <p:cNvPr id="9224" name="TextBox 7">
            <a:extLst>
              <a:ext uri="{FF2B5EF4-FFF2-40B4-BE49-F238E27FC236}">
                <a16:creationId xmlns:a16="http://schemas.microsoft.com/office/drawing/2014/main" id="{336100C4-E027-3E36-5061-2D63BD233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7432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Stakeholder interviews, market analysis, current state assessment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A6543-DB96-27A2-FAAA-C4637DAF76BF}"/>
              </a:ext>
            </a:extLst>
          </p:cNvPr>
          <p:cNvSpPr/>
          <p:nvPr/>
        </p:nvSpPr>
        <p:spPr>
          <a:xfrm>
            <a:off x="3292475" y="1692275"/>
            <a:ext cx="457200" cy="457200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26" name="TextBox 9">
            <a:extLst>
              <a:ext uri="{FF2B5EF4-FFF2-40B4-BE49-F238E27FC236}">
                <a16:creationId xmlns:a16="http://schemas.microsoft.com/office/drawing/2014/main" id="{FC54C91E-7E7E-8E56-68A9-61880EB65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475" y="16922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227" name="TextBox 10">
            <a:extLst>
              <a:ext uri="{FF2B5EF4-FFF2-40B4-BE49-F238E27FC236}">
                <a16:creationId xmlns:a16="http://schemas.microsoft.com/office/drawing/2014/main" id="{180484BA-72B9-B73A-C3C9-D8CF38331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2332038"/>
            <a:ext cx="1828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500" b="1">
                <a:solidFill>
                  <a:srgbClr val="1A1A1A"/>
                </a:solidFill>
              </a:rPr>
              <a:t>Strategy</a:t>
            </a:r>
          </a:p>
        </p:txBody>
      </p:sp>
      <p:sp>
        <p:nvSpPr>
          <p:cNvPr id="9228" name="TextBox 11">
            <a:extLst>
              <a:ext uri="{FF2B5EF4-FFF2-40B4-BE49-F238E27FC236}">
                <a16:creationId xmlns:a16="http://schemas.microsoft.com/office/drawing/2014/main" id="{B5E4851F-CBB7-A772-A5C1-2833F44D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27432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Positioning, GTM framework, pricing architecture, channel design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FC703-65D2-59B4-5E3A-F4EA568F6AF3}"/>
              </a:ext>
            </a:extLst>
          </p:cNvPr>
          <p:cNvSpPr/>
          <p:nvPr/>
        </p:nvSpPr>
        <p:spPr>
          <a:xfrm>
            <a:off x="5349875" y="1692275"/>
            <a:ext cx="457200" cy="457200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30" name="TextBox 13">
            <a:extLst>
              <a:ext uri="{FF2B5EF4-FFF2-40B4-BE49-F238E27FC236}">
                <a16:creationId xmlns:a16="http://schemas.microsoft.com/office/drawing/2014/main" id="{0019105A-0BCE-4B94-2C09-3BECB7546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16922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231" name="TextBox 14">
            <a:extLst>
              <a:ext uri="{FF2B5EF4-FFF2-40B4-BE49-F238E27FC236}">
                <a16:creationId xmlns:a16="http://schemas.microsoft.com/office/drawing/2014/main" id="{E4B4BCF9-15EF-5E43-141E-7AFE1E57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2332038"/>
            <a:ext cx="1828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500" b="1">
                <a:solidFill>
                  <a:srgbClr val="1A1A1A"/>
                </a:solidFill>
              </a:rPr>
              <a:t>Execution</a:t>
            </a:r>
          </a:p>
        </p:txBody>
      </p:sp>
      <p:sp>
        <p:nvSpPr>
          <p:cNvPr id="9232" name="TextBox 15">
            <a:extLst>
              <a:ext uri="{FF2B5EF4-FFF2-40B4-BE49-F238E27FC236}">
                <a16:creationId xmlns:a16="http://schemas.microsoft.com/office/drawing/2014/main" id="{64232D06-4792-CE41-2739-F5389CB02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27432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Embedded leadership, team enablement, launch support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E28AE5-1509-8424-3FEC-EBE2B83F9A2D}"/>
              </a:ext>
            </a:extLst>
          </p:cNvPr>
          <p:cNvSpPr/>
          <p:nvPr/>
        </p:nvSpPr>
        <p:spPr>
          <a:xfrm>
            <a:off x="7407275" y="1692275"/>
            <a:ext cx="457200" cy="457200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34" name="TextBox 17">
            <a:extLst>
              <a:ext uri="{FF2B5EF4-FFF2-40B4-BE49-F238E27FC236}">
                <a16:creationId xmlns:a16="http://schemas.microsoft.com/office/drawing/2014/main" id="{25520CD6-25CF-EA64-E045-2FF9250B0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16922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235" name="TextBox 18">
            <a:extLst>
              <a:ext uri="{FF2B5EF4-FFF2-40B4-BE49-F238E27FC236}">
                <a16:creationId xmlns:a16="http://schemas.microsoft.com/office/drawing/2014/main" id="{B5669D64-A0D5-D530-B6FA-2AAA59688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963" y="2332038"/>
            <a:ext cx="1828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500" b="1">
                <a:solidFill>
                  <a:srgbClr val="1A1A1A"/>
                </a:solidFill>
              </a:rPr>
              <a:t>Scale</a:t>
            </a:r>
          </a:p>
        </p:txBody>
      </p:sp>
      <p:sp>
        <p:nvSpPr>
          <p:cNvPr id="9236" name="TextBox 19">
            <a:extLst>
              <a:ext uri="{FF2B5EF4-FFF2-40B4-BE49-F238E27FC236}">
                <a16:creationId xmlns:a16="http://schemas.microsoft.com/office/drawing/2014/main" id="{BE30DF94-C399-6323-8E54-09A216DF2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963" y="27432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>
                <a:solidFill>
                  <a:srgbClr val="666666"/>
                </a:solidFill>
              </a:rPr>
              <a:t>Performance optimisation, expansion planning, handover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3C3EF1-4C3D-BBB8-1963-28CA514B4FAF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9238" name="Picture 21" descr="logo.png">
            <a:extLst>
              <a:ext uri="{FF2B5EF4-FFF2-40B4-BE49-F238E27FC236}">
                <a16:creationId xmlns:a16="http://schemas.microsoft.com/office/drawing/2014/main" id="{DB6FD475-5D64-8E9B-4397-9DCD3E853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9" name="TextBox 22">
            <a:extLst>
              <a:ext uri="{FF2B5EF4-FFF2-40B4-BE49-F238E27FC236}">
                <a16:creationId xmlns:a16="http://schemas.microsoft.com/office/drawing/2014/main" id="{432CD44D-B28E-F9CD-9A46-E8FD79186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F03F5D-6F32-B0AC-5F34-43C5ACBFE85D}"/>
              </a:ext>
            </a:extLst>
          </p:cNvPr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3" name="TextBox 2">
            <a:extLst>
              <a:ext uri="{FF2B5EF4-FFF2-40B4-BE49-F238E27FC236}">
                <a16:creationId xmlns:a16="http://schemas.microsoft.com/office/drawing/2014/main" id="{2D559D15-B7F9-00C4-EA3C-DC137E9E0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20675"/>
            <a:ext cx="786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800" b="1">
                <a:solidFill>
                  <a:srgbClr val="1A1A1A"/>
                </a:solidFill>
              </a:rPr>
              <a:t>Recommendations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3E3358-B807-AF37-5946-F03507D883D5}"/>
              </a:ext>
            </a:extLst>
          </p:cNvPr>
          <p:cNvSpPr/>
          <p:nvPr/>
        </p:nvSpPr>
        <p:spPr>
          <a:xfrm>
            <a:off x="639763" y="1235075"/>
            <a:ext cx="255587" cy="255588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5" name="TextBox 4">
            <a:extLst>
              <a:ext uri="{FF2B5EF4-FFF2-40B4-BE49-F238E27FC236}">
                <a16:creationId xmlns:a16="http://schemas.microsoft.com/office/drawing/2014/main" id="{69268FEC-258C-1BBF-AB9B-0C5057F24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235075"/>
            <a:ext cx="255587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246" name="TextBox 5">
            <a:extLst>
              <a:ext uri="{FF2B5EF4-FFF2-40B4-BE49-F238E27FC236}">
                <a16:creationId xmlns:a16="http://schemas.microsoft.com/office/drawing/2014/main" id="{A8C77B72-C238-87B6-00B0-D7EEEDB0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189038"/>
            <a:ext cx="7453313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500" b="1">
                <a:solidFill>
                  <a:srgbClr val="1A1A1A"/>
                </a:solidFill>
              </a:rPr>
              <a:t>Reposition AI product messaging</a:t>
            </a:r>
          </a:p>
        </p:txBody>
      </p:sp>
      <p:sp>
        <p:nvSpPr>
          <p:cNvPr id="10247" name="TextBox 6">
            <a:extLst>
              <a:ext uri="{FF2B5EF4-FFF2-40B4-BE49-F238E27FC236}">
                <a16:creationId xmlns:a16="http://schemas.microsoft.com/office/drawing/2014/main" id="{C7347CCF-B4A3-A4A3-7FB7-1A876810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536700"/>
            <a:ext cx="74533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200">
                <a:solidFill>
                  <a:srgbClr val="666666"/>
                </a:solidFill>
              </a:rPr>
              <a:t>Shift from feature-led to outcome-led positioning to align with enterprise buyer priorities.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F771CF-BD5C-35C9-21F6-E002E154D06E}"/>
              </a:ext>
            </a:extLst>
          </p:cNvPr>
          <p:cNvSpPr/>
          <p:nvPr/>
        </p:nvSpPr>
        <p:spPr>
          <a:xfrm>
            <a:off x="639763" y="2103438"/>
            <a:ext cx="255587" cy="255587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9" name="TextBox 8">
            <a:extLst>
              <a:ext uri="{FF2B5EF4-FFF2-40B4-BE49-F238E27FC236}">
                <a16:creationId xmlns:a16="http://schemas.microsoft.com/office/drawing/2014/main" id="{525B61BD-CA4F-ED1C-63CB-E73F56BC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103438"/>
            <a:ext cx="255587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250" name="TextBox 9">
            <a:extLst>
              <a:ext uri="{FF2B5EF4-FFF2-40B4-BE49-F238E27FC236}">
                <a16:creationId xmlns:a16="http://schemas.microsoft.com/office/drawing/2014/main" id="{FCA189F5-3188-4D6A-9B84-309C85B2F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057400"/>
            <a:ext cx="74533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500" b="1">
                <a:solidFill>
                  <a:srgbClr val="1A1A1A"/>
                </a:solidFill>
              </a:rPr>
              <a:t>Establish category authority</a:t>
            </a:r>
          </a:p>
        </p:txBody>
      </p:sp>
      <p:sp>
        <p:nvSpPr>
          <p:cNvPr id="10251" name="TextBox 10">
            <a:extLst>
              <a:ext uri="{FF2B5EF4-FFF2-40B4-BE49-F238E27FC236}">
                <a16:creationId xmlns:a16="http://schemas.microsoft.com/office/drawing/2014/main" id="{C1BD8EB7-F8AA-B97D-5720-B296A525B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405063"/>
            <a:ext cx="74533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200">
                <a:solidFill>
                  <a:srgbClr val="666666"/>
                </a:solidFill>
              </a:rPr>
              <a:t>Invest in thought leadership, analyst engagement, and strategic content to own the narrative.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24772E-B042-931A-F365-CCEEDF539C54}"/>
              </a:ext>
            </a:extLst>
          </p:cNvPr>
          <p:cNvSpPr/>
          <p:nvPr/>
        </p:nvSpPr>
        <p:spPr>
          <a:xfrm>
            <a:off x="639763" y="2971800"/>
            <a:ext cx="255587" cy="255588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53" name="TextBox 12">
            <a:extLst>
              <a:ext uri="{FF2B5EF4-FFF2-40B4-BE49-F238E27FC236}">
                <a16:creationId xmlns:a16="http://schemas.microsoft.com/office/drawing/2014/main" id="{094A1640-53B9-45B1-0E55-443DBC7F3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971800"/>
            <a:ext cx="255587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254" name="TextBox 13">
            <a:extLst>
              <a:ext uri="{FF2B5EF4-FFF2-40B4-BE49-F238E27FC236}">
                <a16:creationId xmlns:a16="http://schemas.microsoft.com/office/drawing/2014/main" id="{02F8D76B-7441-8402-A528-251F90F71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925763"/>
            <a:ext cx="74533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500" b="1">
                <a:solidFill>
                  <a:srgbClr val="1A1A1A"/>
                </a:solidFill>
              </a:rPr>
              <a:t>Build scalable commercial engine</a:t>
            </a:r>
          </a:p>
        </p:txBody>
      </p:sp>
      <p:sp>
        <p:nvSpPr>
          <p:cNvPr id="10255" name="TextBox 14">
            <a:extLst>
              <a:ext uri="{FF2B5EF4-FFF2-40B4-BE49-F238E27FC236}">
                <a16:creationId xmlns:a16="http://schemas.microsoft.com/office/drawing/2014/main" id="{2E866E94-AA87-3B14-3F0E-7DE023CA2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3273425"/>
            <a:ext cx="74533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200">
                <a:solidFill>
                  <a:srgbClr val="666666"/>
                </a:solidFill>
              </a:rPr>
              <a:t>Design repeatable sales motions with clear ICP definition, playbooks, and enablement.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1A7C03-D5F7-0764-7F01-D7F55B8B1CB6}"/>
              </a:ext>
            </a:extLst>
          </p:cNvPr>
          <p:cNvSpPr/>
          <p:nvPr/>
        </p:nvSpPr>
        <p:spPr>
          <a:xfrm>
            <a:off x="639763" y="3840163"/>
            <a:ext cx="255587" cy="255587"/>
          </a:xfrm>
          <a:prstGeom prst="ellipse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57" name="TextBox 16">
            <a:extLst>
              <a:ext uri="{FF2B5EF4-FFF2-40B4-BE49-F238E27FC236}">
                <a16:creationId xmlns:a16="http://schemas.microsoft.com/office/drawing/2014/main" id="{32CDEE4B-29E0-C06F-1DA5-BE804C064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840163"/>
            <a:ext cx="255587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258" name="TextBox 17">
            <a:extLst>
              <a:ext uri="{FF2B5EF4-FFF2-40B4-BE49-F238E27FC236}">
                <a16:creationId xmlns:a16="http://schemas.microsoft.com/office/drawing/2014/main" id="{619505C1-4DD8-7C07-E762-769F5B8BD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3794125"/>
            <a:ext cx="74533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500" b="1">
                <a:solidFill>
                  <a:srgbClr val="1A1A1A"/>
                </a:solidFill>
              </a:rPr>
              <a:t>Embed senior GTM leadership</a:t>
            </a:r>
          </a:p>
        </p:txBody>
      </p:sp>
      <p:sp>
        <p:nvSpPr>
          <p:cNvPr id="10259" name="TextBox 18">
            <a:extLst>
              <a:ext uri="{FF2B5EF4-FFF2-40B4-BE49-F238E27FC236}">
                <a16:creationId xmlns:a16="http://schemas.microsoft.com/office/drawing/2014/main" id="{9B7DB916-4BF9-3D59-8C6E-CADBE47E4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141788"/>
            <a:ext cx="7453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200">
                <a:solidFill>
                  <a:srgbClr val="666666"/>
                </a:solidFill>
              </a:rPr>
              <a:t>Bring in experienced commercial leadership to accelerate execution and build team capability.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413053-9BC1-005F-F1FF-A523200865E7}"/>
              </a:ext>
            </a:extLst>
          </p:cNvPr>
          <p:cNvSpPr/>
          <p:nvPr/>
        </p:nvSpPr>
        <p:spPr>
          <a:xfrm>
            <a:off x="0" y="4868863"/>
            <a:ext cx="9144000" cy="27463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pic>
        <p:nvPicPr>
          <p:cNvPr id="10261" name="Picture 20" descr="logo.png">
            <a:extLst>
              <a:ext uri="{FF2B5EF4-FFF2-40B4-BE49-F238E27FC236}">
                <a16:creationId xmlns:a16="http://schemas.microsoft.com/office/drawing/2014/main" id="{1ED5B8A3-3F9B-8E97-F058-52525571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5850"/>
            <a:ext cx="9604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2" name="TextBox 21">
            <a:extLst>
              <a:ext uri="{FF2B5EF4-FFF2-40B4-BE49-F238E27FC236}">
                <a16:creationId xmlns:a16="http://schemas.microsoft.com/office/drawing/2014/main" id="{037D46C6-C5F0-DF1C-75F3-A2F959486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68863"/>
            <a:ext cx="1828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001" altLang="en-001" sz="80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>
            <a:extLst>
              <a:ext uri="{FF2B5EF4-FFF2-40B4-BE49-F238E27FC236}">
                <a16:creationId xmlns:a16="http://schemas.microsoft.com/office/drawing/2014/main" id="{BA387AAE-5BB4-3B11-BCE8-2EF13A49A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731838"/>
            <a:ext cx="9144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9600">
                <a:solidFill>
                  <a:srgbClr val="1A6EF5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11267" name="TextBox 2">
            <a:extLst>
              <a:ext uri="{FF2B5EF4-FFF2-40B4-BE49-F238E27FC236}">
                <a16:creationId xmlns:a16="http://schemas.microsoft.com/office/drawing/2014/main" id="{7EDF6DB1-3167-391C-DE28-DC72BD38A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646238"/>
            <a:ext cx="6950075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2200" i="1">
                <a:solidFill>
                  <a:srgbClr val="FFFFFF"/>
                </a:solidFill>
              </a:rPr>
              <a:t>Insert a key insight, strategic observation, or framing statement that anchors the narrative of the engagement.</a:t>
            </a:r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34C7F31B-C696-BCA0-3184-E46B86430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3292475"/>
            <a:ext cx="69500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001" altLang="en-001" sz="1300">
                <a:solidFill>
                  <a:srgbClr val="1A6EF5"/>
                </a:solidFill>
              </a:rPr>
              <a:t>— Attribution or Source</a:t>
            </a:r>
          </a:p>
        </p:txBody>
      </p:sp>
      <p:pic>
        <p:nvPicPr>
          <p:cNvPr id="11269" name="Picture 4" descr="logo-white.png">
            <a:extLst>
              <a:ext uri="{FF2B5EF4-FFF2-40B4-BE49-F238E27FC236}">
                <a16:creationId xmlns:a16="http://schemas.microsoft.com/office/drawing/2014/main" id="{D038EB2A-3273-2557-6FFA-9A6C8E575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35475"/>
            <a:ext cx="10969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 descr="logo-white.png">
            <a:extLst>
              <a:ext uri="{FF2B5EF4-FFF2-40B4-BE49-F238E27FC236}">
                <a16:creationId xmlns:a16="http://schemas.microsoft.com/office/drawing/2014/main" id="{A0A4F951-58E9-794B-71B0-DF70494C5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3" y="1096963"/>
            <a:ext cx="32924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74FE29-3160-3A12-FCE5-E2F2C688B9E8}"/>
              </a:ext>
            </a:extLst>
          </p:cNvPr>
          <p:cNvSpPr/>
          <p:nvPr/>
        </p:nvSpPr>
        <p:spPr>
          <a:xfrm>
            <a:off x="3475038" y="2560638"/>
            <a:ext cx="2193925" cy="36512"/>
          </a:xfrm>
          <a:prstGeom prst="rect">
            <a:avLst/>
          </a:prstGeom>
          <a:solidFill>
            <a:srgbClr val="1A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A2D3472D-B45D-CF3F-8693-D5C26F6DB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835275"/>
            <a:ext cx="7864475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2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293" name="TextBox 4">
            <a:extLst>
              <a:ext uri="{FF2B5EF4-FFF2-40B4-BE49-F238E27FC236}">
                <a16:creationId xmlns:a16="http://schemas.microsoft.com/office/drawing/2014/main" id="{A5C3E3E0-0413-5E87-ED5F-EE82CB2F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521075"/>
            <a:ext cx="78644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300">
                <a:solidFill>
                  <a:srgbClr val="999999"/>
                </a:solidFill>
              </a:rPr>
              <a:t>info@hepburnadvisory.com.au</a:t>
            </a:r>
          </a:p>
        </p:txBody>
      </p:sp>
      <p:sp>
        <p:nvSpPr>
          <p:cNvPr id="12294" name="TextBox 5">
            <a:extLst>
              <a:ext uri="{FF2B5EF4-FFF2-40B4-BE49-F238E27FC236}">
                <a16:creationId xmlns:a16="http://schemas.microsoft.com/office/drawing/2014/main" id="{7C206A73-99A9-FCE9-4D62-43B355094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886200"/>
            <a:ext cx="78644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300">
                <a:solidFill>
                  <a:srgbClr val="999999"/>
                </a:solidFill>
              </a:rPr>
              <a:t>hepburnadvisory.com.au</a:t>
            </a:r>
          </a:p>
        </p:txBody>
      </p:sp>
      <p:sp>
        <p:nvSpPr>
          <p:cNvPr id="12295" name="TextBox 6">
            <a:extLst>
              <a:ext uri="{FF2B5EF4-FFF2-40B4-BE49-F238E27FC236}">
                <a16:creationId xmlns:a16="http://schemas.microsoft.com/office/drawing/2014/main" id="{9196F22D-8959-F164-9BDF-752EC3561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51325"/>
            <a:ext cx="786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001" altLang="en-001" sz="1300">
                <a:solidFill>
                  <a:srgbClr val="999999"/>
                </a:solidFill>
              </a:rPr>
              <a:t>linkedin.com/in/simonbowker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5BB0580-54B1-7347-99DD-6E7D2AC8AAC2}" vid="{D79D56A3-CACF-9D4E-B78A-A15CC64B3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367</Words>
  <Application>Microsoft Macintosh PowerPoint</Application>
  <PresentationFormat>On-screen Show (16:9)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Aptos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Simon Bowker</dc:creator>
  <cp:keywords/>
  <dc:description>generated using python-pptx</dc:description>
  <cp:lastModifiedBy>Simon Bowker</cp:lastModifiedBy>
  <cp:revision>1</cp:revision>
  <dcterms:created xsi:type="dcterms:W3CDTF">2026-04-23T22:47:39Z</dcterms:created>
  <dcterms:modified xsi:type="dcterms:W3CDTF">2026-04-23T22:48:36Z</dcterms:modified>
  <cp:category/>
</cp:coreProperties>
</file>